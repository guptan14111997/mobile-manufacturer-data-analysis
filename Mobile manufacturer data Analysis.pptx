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7"/>
  </p:notesMasterIdLst>
  <p:sldIdLst>
    <p:sldId id="256" r:id="rId4"/>
    <p:sldId id="273" r:id="rId5"/>
    <p:sldId id="275" r:id="rId6"/>
    <p:sldId id="277" r:id="rId7"/>
    <p:sldId id="278" r:id="rId8"/>
    <p:sldId id="279" r:id="rId9"/>
    <p:sldId id="288" r:id="rId10"/>
    <p:sldId id="281" r:id="rId11"/>
    <p:sldId id="282" r:id="rId12"/>
    <p:sldId id="292" r:id="rId13"/>
    <p:sldId id="286" r:id="rId14"/>
    <p:sldId id="284" r:id="rId15"/>
    <p:sldId id="28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4" Type="http://schemas.openxmlformats.org/officeDocument/2006/relationships/tags" Target="../tags/tag81.xml"/><Relationship Id="rId23" Type="http://schemas.openxmlformats.org/officeDocument/2006/relationships/tags" Target="../tags/tag80.xml"/><Relationship Id="rId22" Type="http://schemas.openxmlformats.org/officeDocument/2006/relationships/tags" Target="../tags/tag79.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tags" Target="../tags/tag63.xml"/><Relationship Id="rId19" Type="http://schemas.openxmlformats.org/officeDocument/2006/relationships/tags" Target="../tags/tag76.xml"/><Relationship Id="rId18" Type="http://schemas.openxmlformats.org/officeDocument/2006/relationships/image" Target="../media/image4.svg"/><Relationship Id="rId17" Type="http://schemas.openxmlformats.org/officeDocument/2006/relationships/image" Target="../media/image3.png"/><Relationship Id="rId16" Type="http://schemas.openxmlformats.org/officeDocument/2006/relationships/tags" Target="../tags/tag75.xml"/><Relationship Id="rId15" Type="http://schemas.openxmlformats.org/officeDocument/2006/relationships/image" Target="../media/image2.svg"/><Relationship Id="rId14" Type="http://schemas.openxmlformats.org/officeDocument/2006/relationships/image" Target="../media/image1.png"/><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tags" Target="../tags/tag103.xml"/><Relationship Id="rId19" Type="http://schemas.openxmlformats.org/officeDocument/2006/relationships/tags" Target="../tags/tag116.xml"/><Relationship Id="rId18" Type="http://schemas.openxmlformats.org/officeDocument/2006/relationships/image" Target="../media/image7.svg"/><Relationship Id="rId17" Type="http://schemas.openxmlformats.org/officeDocument/2006/relationships/image" Target="../media/image3.png"/><Relationship Id="rId16" Type="http://schemas.openxmlformats.org/officeDocument/2006/relationships/tags" Target="../tags/tag115.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0" Type="http://schemas.openxmlformats.org/officeDocument/2006/relationships/tags" Target="../tags/tag1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0" Type="http://schemas.openxmlformats.org/officeDocument/2006/relationships/tags" Target="../tags/tag187.xml"/><Relationship Id="rId2" Type="http://schemas.openxmlformats.org/officeDocument/2006/relationships/tags" Target="../tags/tag173.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image" Target="../media/image4.svg"/><Relationship Id="rId12" Type="http://schemas.openxmlformats.org/officeDocument/2006/relationships/image" Target="../media/image3.png"/><Relationship Id="rId11" Type="http://schemas.openxmlformats.org/officeDocument/2006/relationships/tags" Target="../tags/tag180.xml"/><Relationship Id="rId10" Type="http://schemas.openxmlformats.org/officeDocument/2006/relationships/image" Target="../media/image8.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106285" y="2912110"/>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6" name="矩形: 圆顶角 12"/>
          <p:cNvSpPr/>
          <p:nvPr>
            <p:custDataLst>
              <p:tags r:id="rId4"/>
            </p:custDataLst>
          </p:nvPr>
        </p:nvSpPr>
        <p:spPr>
          <a:xfrm rot="18900000" flipH="1">
            <a:off x="2332990" y="1199515"/>
            <a:ext cx="1979930" cy="368554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5" name="矩形: 圆顶角 13"/>
          <p:cNvSpPr/>
          <p:nvPr>
            <p:custDataLst>
              <p:tags r:id="rId5"/>
            </p:custDataLst>
          </p:nvPr>
        </p:nvSpPr>
        <p:spPr>
          <a:xfrm rot="8100000" flipH="1">
            <a:off x="2037080" y="2382520"/>
            <a:ext cx="1979930" cy="3736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任意多边形: 形状 11"/>
          <p:cNvSpPr/>
          <p:nvPr>
            <p:custDataLst>
              <p:tags r:id="rId6"/>
            </p:custDataLst>
          </p:nvPr>
        </p:nvSpPr>
        <p:spPr>
          <a:xfrm flipH="1">
            <a:off x="1019873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p:custDataLst>
              <p:tags r:id="rId10"/>
            </p:custDataLst>
          </p:nvPr>
        </p:nvSpPr>
        <p:spPr>
          <a:xfrm>
            <a:off x="1065466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a:spLocks noChangeAspect="1"/>
          </p:cNvSpPr>
          <p:nvPr>
            <p:custDataLst>
              <p:tags r:id="rId11"/>
            </p:custDataLst>
          </p:nvPr>
        </p:nvSpPr>
        <p:spPr>
          <a:xfrm>
            <a:off x="109023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2"/>
            </p:custDataLst>
          </p:nvPr>
        </p:nvSpPr>
        <p:spPr>
          <a:xfrm>
            <a:off x="104070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9" name="副标题"/>
          <p:cNvSpPr txBox="1">
            <a:spLocks noGrp="1"/>
          </p:cNvSpPr>
          <p:nvPr>
            <p:ph type="body" idx="3" hasCustomPrompt="1"/>
            <p:custDataLst>
              <p:tags r:id="rId19"/>
            </p:custDataLst>
          </p:nvPr>
        </p:nvSpPr>
        <p:spPr>
          <a:xfrm>
            <a:off x="4460086" y="583854"/>
            <a:ext cx="6724805" cy="876899"/>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en-US" sz="2200" b="1"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j-lt"/>
              </a:defRPr>
            </a:lvl1pPr>
          </a:lstStyle>
          <a:p>
            <a:pPr lvl="0" algn="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20"/>
            </p:custDataLst>
          </p:nvPr>
        </p:nvSpPr>
        <p:spPr>
          <a:xfrm>
            <a:off x="4460240" y="1561719"/>
            <a:ext cx="6724650" cy="3353288"/>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en-US" sz="52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
        <p:nvSpPr>
          <p:cNvPr id="21" name="署名占位符 10"/>
          <p:cNvSpPr>
            <a:spLocks noGrp="1"/>
          </p:cNvSpPr>
          <p:nvPr>
            <p:ph type="body" sz="quarter" idx="17" hasCustomPrompt="1"/>
            <p:custDataLst>
              <p:tags r:id="rId24"/>
            </p:custDataLst>
          </p:nvPr>
        </p:nvSpPr>
        <p:spPr>
          <a:xfrm>
            <a:off x="9240890" y="5051532"/>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正文"/>
          <p:cNvSpPr txBox="1">
            <a:spLocks noGrp="1"/>
          </p:cNvSpPr>
          <p:nvPr>
            <p:ph idx="6" hasCustomPrompt="1"/>
            <p:custDataLst>
              <p:tags r:id="rId3"/>
            </p:custDataLst>
          </p:nvPr>
        </p:nvSpPr>
        <p:spPr>
          <a:xfrm>
            <a:off x="608400" y="1490400"/>
            <a:ext cx="10969200" cy="4759200"/>
          </a:xfrm>
          <a:prstGeom prst="rect">
            <a:avLst/>
          </a:prstGeom>
          <a:ln>
            <a:noFill/>
            <a:prstDash val="sysDash"/>
          </a:ln>
        </p:spPr>
        <p:txBody>
          <a:bodyPr vert="horz" lIns="90000" tIns="46800" rIns="90000" bIns="46800" rtlCol="0">
            <a:normAutofit/>
          </a:bodyPr>
          <a:lstStyle>
            <a:defPPr>
              <a:defRPr lang="en-US">
                <a:latin typeface="+mn-lt"/>
              </a:defRPr>
            </a:defPPr>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85000"/>
                    <a:lumOff val="15000"/>
                  </a:schemeClr>
                </a:solidFill>
                <a:uFillTx/>
                <a:latin typeface="+mn-lt"/>
                <a:sym typeface="+mn-ea"/>
              </a:defRPr>
            </a:lvl1pPr>
            <a:lvl2pPr marL="449580" marR="0" lvl="1" indent="-231775"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lt"/>
              </a:defRPr>
            </a:lvl2pPr>
            <a:lvl3pPr marL="719455" marR="0" lvl="2" indent="-276225"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ln>
                  <a:noFill/>
                  <a:prstDash val="sysDot"/>
                </a:ln>
                <a:solidFill>
                  <a:schemeClr val="tx1">
                    <a:lumMod val="50000"/>
                    <a:lumOff val="50000"/>
                  </a:schemeClr>
                </a:solidFill>
                <a:uFillTx/>
                <a:latin typeface="+mn-lt"/>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lt"/>
              </a:defRPr>
            </a:lvl4pPr>
            <a:lvl5pPr marL="1256030" marR="0" lvl="4" indent="-262255"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ln>
                  <a:noFill/>
                  <a:prstDash val="sysDot"/>
                </a:ln>
                <a:solidFill>
                  <a:schemeClr val="tx1">
                    <a:lumMod val="50000"/>
                    <a:lumOff val="50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spcBef>
                <a:spcPts val="1200"/>
              </a:spcBef>
              <a:spcAft>
                <a:spcPts val="0"/>
              </a:spcAft>
              <a:buClr>
                <a:schemeClr val="accent1"/>
              </a:buClr>
            </a:pPr>
            <a:r>
              <a:rPr dirty="0">
                <a:latin typeface="+mn-lt"/>
                <a:sym typeface="+mn-ea"/>
              </a:rPr>
              <a:t>Click to add text</a:t>
            </a:r>
            <a:endParaRPr dirty="0">
              <a:sym typeface="+mn-ea"/>
            </a:endParaRPr>
          </a:p>
        </p:txBody>
      </p:sp>
      <p:sp>
        <p:nvSpPr>
          <p:cNvPr id="11" name="标题"/>
          <p:cNvSpPr txBox="1">
            <a:spLocks noGrp="1"/>
          </p:cNvSpPr>
          <p:nvPr>
            <p:ph type="title" idx="5"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cxnSp>
        <p:nvCxnSpPr>
          <p:cNvPr id="10" name="直接连接符 9"/>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 name="日期占位符 3"/>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任意多边形: 形状 4"/>
          <p:cNvSpPr/>
          <p:nvPr>
            <p:custDataLst>
              <p:tags r:id="rId3"/>
            </p:custDataLst>
          </p:nvPr>
        </p:nvSpPr>
        <p:spPr>
          <a:xfrm flipH="1">
            <a:off x="1027556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4"/>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5"/>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圆顶角 12"/>
          <p:cNvSpPr/>
          <p:nvPr>
            <p:custDataLst>
              <p:tags r:id="rId7"/>
            </p:custDataLst>
          </p:nvPr>
        </p:nvSpPr>
        <p:spPr>
          <a:xfrm rot="16200000" flipH="1">
            <a:off x="1751330" y="2410460"/>
            <a:ext cx="1711325" cy="31845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矩形: 圆顶角 13"/>
          <p:cNvSpPr/>
          <p:nvPr>
            <p:custDataLst>
              <p:tags r:id="rId8"/>
            </p:custDataLst>
          </p:nvPr>
        </p:nvSpPr>
        <p:spPr>
          <a:xfrm rot="5400000" flipH="1">
            <a:off x="2086610" y="3187065"/>
            <a:ext cx="1711325" cy="3228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标题"/>
          <p:cNvSpPr txBox="1">
            <a:spLocks noGrp="1"/>
          </p:cNvSpPr>
          <p:nvPr>
            <p:ph type="title" idx="1" hasCustomPrompt="1"/>
            <p:custDataLst>
              <p:tags r:id="rId9"/>
            </p:custDataLst>
          </p:nvPr>
        </p:nvSpPr>
        <p:spPr>
          <a:xfrm>
            <a:off x="1739264" y="1067435"/>
            <a:ext cx="4524597" cy="907415"/>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accent2"/>
                </a:solidFill>
                <a:latin typeface="+mj-lt"/>
              </a:defRPr>
            </a:lvl1pPr>
          </a:lstStyle>
          <a:p>
            <a:pPr lvl="0"/>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226300" y="295465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5" name="矩形: 圆顶角 12"/>
          <p:cNvSpPr/>
          <p:nvPr>
            <p:custDataLst>
              <p:tags r:id="rId4"/>
            </p:custDataLst>
          </p:nvPr>
        </p:nvSpPr>
        <p:spPr>
          <a:xfrm flipH="1">
            <a:off x="2816225" y="1450340"/>
            <a:ext cx="1893570" cy="352425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4" name="矩形: 圆顶角 13"/>
          <p:cNvSpPr/>
          <p:nvPr>
            <p:custDataLst>
              <p:tags r:id="rId5"/>
            </p:custDataLst>
          </p:nvPr>
        </p:nvSpPr>
        <p:spPr>
          <a:xfrm rot="10800000" flipH="1">
            <a:off x="1900555" y="1906270"/>
            <a:ext cx="1893570" cy="3573145"/>
          </a:xfrm>
          <a:prstGeom prst="round2SameRect">
            <a:avLst>
              <a:gd name="adj1" fmla="val 50000"/>
              <a:gd name="adj2" fmla="val 0"/>
            </a:avLst>
          </a:prstGeom>
          <a:gradFill flip="none" rotWithShape="1">
            <a:gsLst>
              <a:gs pos="95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任意多边形: 形状 9"/>
          <p:cNvSpPr/>
          <p:nvPr>
            <p:custDataLst>
              <p:tags r:id="rId6"/>
            </p:custDataLst>
          </p:nvPr>
        </p:nvSpPr>
        <p:spPr>
          <a:xfrm flipH="1">
            <a:off x="1015682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a:spLocks noChangeAspect="1"/>
          </p:cNvSpPr>
          <p:nvPr>
            <p:custDataLst>
              <p:tags r:id="rId10"/>
            </p:custDataLst>
          </p:nvPr>
        </p:nvSpPr>
        <p:spPr>
          <a:xfrm>
            <a:off x="1034859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1"/>
            </p:custDataLst>
          </p:nvPr>
        </p:nvSpPr>
        <p:spPr>
          <a:xfrm>
            <a:off x="105962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p:cNvSpPr>
            <a:spLocks noChangeAspect="1"/>
          </p:cNvSpPr>
          <p:nvPr>
            <p:custDataLst>
              <p:tags r:id="rId12"/>
            </p:custDataLst>
          </p:nvPr>
        </p:nvSpPr>
        <p:spPr>
          <a:xfrm>
            <a:off x="101009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8" name="标题"/>
          <p:cNvSpPr txBox="1">
            <a:spLocks noGrp="1"/>
          </p:cNvSpPr>
          <p:nvPr>
            <p:ph type="title" idx="2" hasCustomPrompt="1"/>
            <p:custDataLst>
              <p:tags r:id="rId19"/>
            </p:custDataLst>
          </p:nvPr>
        </p:nvSpPr>
        <p:spPr>
          <a:xfrm>
            <a:off x="4709795" y="2879090"/>
            <a:ext cx="6257925" cy="3349625"/>
          </a:xfrm>
          <a:prstGeom prst="rect">
            <a:avLst/>
          </a:prstGeom>
          <a:noFill/>
        </p:spPr>
        <p:txBody>
          <a:bodyPr wrap="square" lIns="0" tIns="0" rIns="0" bIns="0" rtlCol="0" anchor="t">
            <a:normAutofit/>
          </a:bodyPr>
          <a:lstStyle>
            <a:lvl1pPr marL="0" marR="0" algn="r" defTabSz="914400" rtl="0" eaLnBrk="1" fontAlgn="auto" latinLnBrk="0" hangingPunct="1">
              <a:lnSpc>
                <a:spcPct val="100000"/>
              </a:lnSpc>
              <a:buClrTx/>
              <a:buSzTx/>
              <a:buFontTx/>
              <a:buNone/>
              <a:defRPr kumimoji="0" lang="en-US" sz="60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dirty="0">
              <a:sym typeface="+mn-ea"/>
            </a:endParaRPr>
          </a:p>
        </p:txBody>
      </p:sp>
      <p:sp>
        <p:nvSpPr>
          <p:cNvPr id="7" name="节编号"/>
          <p:cNvSpPr txBox="1">
            <a:spLocks noGrp="1"/>
          </p:cNvSpPr>
          <p:nvPr>
            <p:ph type="body" idx="1" hasCustomPrompt="1"/>
            <p:custDataLst>
              <p:tags r:id="rId20"/>
            </p:custDataLst>
          </p:nvPr>
        </p:nvSpPr>
        <p:spPr>
          <a:xfrm>
            <a:off x="6238875" y="1652270"/>
            <a:ext cx="4728845" cy="1151890"/>
          </a:xfrm>
          <a:prstGeom prst="rect">
            <a:avLst/>
          </a:prstGeom>
          <a:noFill/>
        </p:spPr>
        <p:txBody>
          <a:bodyPr wrap="none" lIns="0" tIns="0" rIns="0" bIns="0" rtlCol="0" anchor="b" anchorCtr="0">
            <a:normAutofit/>
          </a:bodyPr>
          <a:lstStyle>
            <a:lvl1pPr marL="0" marR="0" algn="r" defTabSz="914400" rtl="0" eaLnBrk="1" fontAlgn="auto" latinLnBrk="0" hangingPunct="1">
              <a:lnSpc>
                <a:spcPct val="120000"/>
              </a:lnSpc>
              <a:buClrTx/>
              <a:buSzTx/>
              <a:buFontTx/>
              <a:buNone/>
              <a:defRPr kumimoji="0" lang="en-US" sz="4400" b="0"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n-lt"/>
              </a:defRPr>
            </a:lvl1pPr>
          </a:lstStyle>
          <a:p>
            <a:pPr lvl="0" algn="r">
              <a:lnSpc>
                <a:spcPct val="120000"/>
              </a:lnSpc>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正文"/>
          <p:cNvSpPr txBox="1">
            <a:spLocks noGrp="1"/>
          </p:cNvSpPr>
          <p:nvPr>
            <p:ph idx="7" hasCustomPrompt="1"/>
            <p:custDataLst>
              <p:tags r:id="rId3"/>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latin typeface="+mn-lt"/>
                <a:sym typeface="+mn-ea"/>
              </a:rPr>
              <a:t>Click to add text</a:t>
            </a:r>
            <a:endParaRPr dirty="0">
              <a:sym typeface="+mn-ea"/>
            </a:endParaRPr>
          </a:p>
        </p:txBody>
      </p:sp>
      <p:sp>
        <p:nvSpPr>
          <p:cNvPr id="9" name="正文"/>
          <p:cNvSpPr txBox="1">
            <a:spLocks noGrp="1"/>
          </p:cNvSpPr>
          <p:nvPr>
            <p:ph idx="6" hasCustomPrompt="1"/>
            <p:custDataLst>
              <p:tags r:id="rId4"/>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5" hasCustomPrompt="1"/>
            <p:custDataLst>
              <p:tags r:id="rId5"/>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6"/>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7"/>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正文"/>
          <p:cNvSpPr txBox="1">
            <a:spLocks noGrp="1"/>
          </p:cNvSpPr>
          <p:nvPr>
            <p:ph idx="9" hasCustomPrompt="1"/>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latin typeface="+mn-lt"/>
                <a:sym typeface="+mn-ea"/>
              </a:rPr>
              <a:t>Click to add text</a:t>
            </a:r>
            <a:endParaRPr dirty="0">
              <a:sym typeface="+mn-ea"/>
            </a:endParaRPr>
          </a:p>
        </p:txBody>
      </p:sp>
      <p:sp>
        <p:nvSpPr>
          <p:cNvPr id="14" name="标题"/>
          <p:cNvSpPr txBox="1">
            <a:spLocks noGrp="1"/>
          </p:cNvSpPr>
          <p:nvPr>
            <p:ph type="title" idx="8" hasCustomPrompt="1"/>
            <p:custDataLst>
              <p:tags r:id="rId4"/>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3" name="正文"/>
          <p:cNvSpPr txBox="1">
            <a:spLocks noGrp="1"/>
          </p:cNvSpPr>
          <p:nvPr>
            <p:ph idx="7" hasCustomPrompt="1"/>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latin typeface="+mn-lt"/>
                <a:sym typeface="+mn-ea"/>
              </a:rPr>
              <a:t>Click to add text</a:t>
            </a:r>
            <a:endParaRPr dirty="0">
              <a:sym typeface="+mn-ea"/>
            </a:endParaRPr>
          </a:p>
        </p:txBody>
      </p:sp>
      <p:sp>
        <p:nvSpPr>
          <p:cNvPr id="12" name="标题"/>
          <p:cNvSpPr txBox="1">
            <a:spLocks noGrp="1"/>
          </p:cNvSpPr>
          <p:nvPr>
            <p:ph type="title" idx="6" hasCustomPrompt="1"/>
            <p:custDataLst>
              <p:tags r:id="rId6"/>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1" name="标题"/>
          <p:cNvSpPr txBox="1">
            <a:spLocks noGrp="1"/>
          </p:cNvSpPr>
          <p:nvPr>
            <p:ph type="title" idx="5" hasCustomPrompt="1"/>
            <p:custDataLst>
              <p:tags r:id="rId7"/>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9"/>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1"/>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custDataLst>
              <p:tags r:id="rId12"/>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3"/>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4"/>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标题"/>
          <p:cNvSpPr txBox="1">
            <a:spLocks noGrp="1"/>
          </p:cNvSpPr>
          <p:nvPr>
            <p:ph type="title" idx="5"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6"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矩形 4"/>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日期占位符 1"/>
          <p:cNvSpPr>
            <a:spLocks noGrp="1"/>
          </p:cNvSpPr>
          <p:nvPr>
            <p:ph type="dt" sz="half" idx="10"/>
            <p:custDataLst>
              <p:tags r:id="rId3"/>
            </p:custDataLst>
          </p:nvPr>
        </p:nvSpPr>
        <p:spPr/>
        <p:txBody>
          <a:bodyPr/>
          <a:lstStyle/>
          <a:p>
            <a:r>
              <a:rPr lang="en-US"/>
              <a:t>Date Area</a:t>
            </a:r>
            <a:endParaRPr lang="en-US"/>
          </a:p>
        </p:txBody>
      </p:sp>
      <p:sp>
        <p:nvSpPr>
          <p:cNvPr id="3" name="页脚占位符 2"/>
          <p:cNvSpPr>
            <a:spLocks noGrp="1"/>
          </p:cNvSpPr>
          <p:nvPr>
            <p:ph type="ftr" sz="quarter" idx="11"/>
            <p:custDataLst>
              <p:tags r:id="rId4"/>
            </p:custDataLst>
          </p:nvPr>
        </p:nvSpPr>
        <p:spPr/>
        <p:txBody>
          <a:bodyPr/>
          <a:lstStyle/>
          <a:p>
            <a:endParaRPr 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正文"/>
          <p:cNvSpPr txBox="1">
            <a:spLocks noGrp="1"/>
          </p:cNvSpPr>
          <p:nvPr>
            <p:ph idx="1" hasCustomPrompt="1"/>
            <p:custDataLst>
              <p:tags r:id="rId3"/>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标题"/>
          <p:cNvSpPr txBox="1">
            <a:spLocks noGrp="1"/>
          </p:cNvSpPr>
          <p:nvPr>
            <p:ph type="title" idx="6"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7" name="直接连接符 6"/>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副标题"/>
          <p:cNvSpPr txBox="1">
            <a:spLocks noGrp="1"/>
          </p:cNvSpPr>
          <p:nvPr>
            <p:ph type="body" idx="1" hasCustomPrompt="1"/>
            <p:custDataLst>
              <p:tags r:id="rId8"/>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uFillTx/>
                <a:latin typeface="+mj-lt"/>
              </a:defRPr>
            </a:lvl1pPr>
          </a:lstStyle>
          <a:p>
            <a:pPr lvl="0" algn="l"/>
            <a:r>
              <a:rPr dirty="0">
                <a:latin typeface="+mj-lt"/>
                <a:sym typeface="+mn-ea"/>
              </a:rPr>
              <a:t>Click to add text</a:t>
            </a:r>
            <a:endParaRPr dirty="0">
              <a:sym typeface="+mn-ea"/>
            </a:endParaRPr>
          </a:p>
        </p:txBody>
      </p:sp>
      <p:sp>
        <p:nvSpPr>
          <p:cNvPr id="3" name="日期占位符 2"/>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2155825" y="145850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0" name="任意多边形: 形状 6"/>
          <p:cNvSpPr/>
          <p:nvPr>
            <p:custDataLst>
              <p:tags r:id="rId4"/>
            </p:custDataLst>
          </p:nvPr>
        </p:nvSpPr>
        <p:spPr>
          <a:xfrm flipH="1">
            <a:off x="10275568" y="0"/>
            <a:ext cx="1490346" cy="807593"/>
          </a:xfrm>
          <a:custGeom>
            <a:avLst/>
            <a:gdLst>
              <a:gd name="connsiteX0" fmla="*/ 1484054 w 1490346"/>
              <a:gd name="connsiteY0" fmla="*/ 0 h 807593"/>
              <a:gd name="connsiteX1" fmla="*/ 6292 w 1490346"/>
              <a:gd name="connsiteY1" fmla="*/ 0 h 807593"/>
              <a:gd name="connsiteX2" fmla="*/ 0 w 1490346"/>
              <a:gd name="connsiteY2" fmla="*/ 62420 h 807593"/>
              <a:gd name="connsiteX3" fmla="*/ 745173 w 1490346"/>
              <a:gd name="connsiteY3" fmla="*/ 807593 h 807593"/>
              <a:gd name="connsiteX4" fmla="*/ 1490346 w 1490346"/>
              <a:gd name="connsiteY4" fmla="*/ 62420 h 8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07593">
                <a:moveTo>
                  <a:pt x="1484054" y="0"/>
                </a:moveTo>
                <a:lnTo>
                  <a:pt x="6292" y="0"/>
                </a:lnTo>
                <a:lnTo>
                  <a:pt x="0" y="62420"/>
                </a:lnTo>
                <a:cubicBezTo>
                  <a:pt x="0" y="473968"/>
                  <a:pt x="333625" y="807593"/>
                  <a:pt x="745173" y="807593"/>
                </a:cubicBezTo>
                <a:cubicBezTo>
                  <a:pt x="1156721" y="807593"/>
                  <a:pt x="1490346" y="473968"/>
                  <a:pt x="1490346" y="62420"/>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5"/>
            </p:custDataLst>
          </p:nvPr>
        </p:nvCxnSpPr>
        <p:spPr>
          <a:xfrm>
            <a:off x="83756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6"/>
            </p:custDataLst>
          </p:nvPr>
        </p:nvCxnSpPr>
        <p:spPr>
          <a:xfrm>
            <a:off x="83756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3756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7" name="图片 56" descr="箭头 右"/>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105535" y="6229350"/>
            <a:ext cx="153670" cy="153670"/>
          </a:xfrm>
          <a:prstGeom prst="rect">
            <a:avLst/>
          </a:prstGeom>
        </p:spPr>
      </p:pic>
      <p:pic>
        <p:nvPicPr>
          <p:cNvPr id="58" name="图片 57" descr="箭头 右"/>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flipH="1">
            <a:off x="837565" y="6229350"/>
            <a:ext cx="153670" cy="153670"/>
          </a:xfrm>
          <a:prstGeom prst="rect">
            <a:avLst/>
          </a:prstGeom>
        </p:spPr>
      </p:pic>
      <p:sp>
        <p:nvSpPr>
          <p:cNvPr id="18" name="矩形: 圆顶角 12"/>
          <p:cNvSpPr/>
          <p:nvPr>
            <p:custDataLst>
              <p:tags r:id="rId14"/>
            </p:custDataLst>
          </p:nvPr>
        </p:nvSpPr>
        <p:spPr>
          <a:xfrm rot="18900000" flipH="1">
            <a:off x="8013065" y="1040130"/>
            <a:ext cx="2052955" cy="382143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9" name="矩形: 圆顶角 13"/>
          <p:cNvSpPr/>
          <p:nvPr>
            <p:custDataLst>
              <p:tags r:id="rId15"/>
            </p:custDataLst>
          </p:nvPr>
        </p:nvSpPr>
        <p:spPr>
          <a:xfrm rot="8100000" flipH="1">
            <a:off x="7706360" y="2266315"/>
            <a:ext cx="2052955" cy="387413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标题"/>
          <p:cNvSpPr txBox="1">
            <a:spLocks noGrp="1"/>
          </p:cNvSpPr>
          <p:nvPr>
            <p:ph type="title" idx="2" hasCustomPrompt="1"/>
            <p:custDataLst>
              <p:tags r:id="rId16"/>
            </p:custDataLst>
          </p:nvPr>
        </p:nvSpPr>
        <p:spPr>
          <a:xfrm>
            <a:off x="837565" y="2507010"/>
            <a:ext cx="7294880" cy="101172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6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
        <p:nvSpPr>
          <p:cNvPr id="17" name="署名占位符 10"/>
          <p:cNvSpPr>
            <a:spLocks noGrp="1"/>
          </p:cNvSpPr>
          <p:nvPr>
            <p:ph type="body" sz="quarter" idx="17" hasCustomPrompt="1"/>
            <p:custDataLst>
              <p:tags r:id="rId20"/>
            </p:custDataLst>
          </p:nvPr>
        </p:nvSpPr>
        <p:spPr>
          <a:xfrm>
            <a:off x="837565" y="3988960"/>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3" Type="http://schemas.openxmlformats.org/officeDocument/2006/relationships/theme" Target="../theme/theme2.xml"/><Relationship Id="rId22" Type="http://schemas.openxmlformats.org/officeDocument/2006/relationships/tags" Target="../tags/tag198.xml"/><Relationship Id="rId21" Type="http://schemas.openxmlformats.org/officeDocument/2006/relationships/tags" Target="../tags/tag197.xml"/><Relationship Id="rId20" Type="http://schemas.openxmlformats.org/officeDocument/2006/relationships/tags" Target="../tags/tag196.xml"/><Relationship Id="rId2" Type="http://schemas.openxmlformats.org/officeDocument/2006/relationships/slideLayout" Target="../slideLayouts/slideLayout14.xml"/><Relationship Id="rId19" Type="http://schemas.openxmlformats.org/officeDocument/2006/relationships/tags" Target="../tags/tag195.xml"/><Relationship Id="rId18" Type="http://schemas.openxmlformats.org/officeDocument/2006/relationships/tags" Target="../tags/tag194.xml"/><Relationship Id="rId17" Type="http://schemas.openxmlformats.org/officeDocument/2006/relationships/tags" Target="../tags/tag193.xml"/><Relationship Id="rId16" Type="http://schemas.openxmlformats.org/officeDocument/2006/relationships/tags" Target="../tags/tag192.xml"/><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tags" Target="../tags/tag189.xml"/><Relationship Id="rId12" Type="http://schemas.openxmlformats.org/officeDocument/2006/relationships/tags" Target="../tags/tag188.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矩形 1"/>
          <p:cNvSpPr/>
          <p:nvPr>
            <p:custDataLst>
              <p:tags r:id="rId1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90204" pitchFamily="34" charset="0"/>
            </a:endParaRPr>
          </a:p>
        </p:txBody>
      </p:sp>
      <p:sp>
        <p:nvSpPr>
          <p:cNvPr id="8" name="矩形: 圆顶角 12"/>
          <p:cNvSpPr/>
          <p:nvPr>
            <p:custDataLst>
              <p:tags r:id="rId13"/>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90204" pitchFamily="34" charset="0"/>
            </a:endParaRPr>
          </a:p>
        </p:txBody>
      </p:sp>
      <p:cxnSp>
        <p:nvCxnSpPr>
          <p:cNvPr id="15" name="直接连接符 14"/>
          <p:cNvCxnSpPr/>
          <p:nvPr>
            <p:custDataLst>
              <p:tags r:id="rId14"/>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custDataLst>
              <p:tags r:id="rId17"/>
            </p:custDataLst>
          </p:nvPr>
        </p:nvSpPr>
        <p:spPr>
          <a:xfrm>
            <a:off x="695960" y="6356350"/>
            <a:ext cx="2743200" cy="365125"/>
          </a:xfrm>
        </p:spPr>
        <p:txBody>
          <a:bodyPr/>
          <a:lstStyle>
            <a:lvl1pPr>
              <a:defRPr>
                <a:latin typeface="Arial" panose="020B0604020202090204" pitchFamily="34" charset="0"/>
              </a:defRPr>
            </a:lvl1pPr>
          </a:lstStyle>
          <a:p>
            <a:r>
              <a:rPr lang="en-US"/>
              <a:t>Date Area</a:t>
            </a:r>
            <a:endParaRPr lang="en-US"/>
          </a:p>
        </p:txBody>
      </p:sp>
      <p:sp>
        <p:nvSpPr>
          <p:cNvPr id="10" name="页脚占位符 9"/>
          <p:cNvSpPr>
            <a:spLocks noGrp="1"/>
          </p:cNvSpPr>
          <p:nvPr>
            <p:ph type="ftr" sz="quarter" idx="11"/>
            <p:custDataLst>
              <p:tags r:id="rId18"/>
            </p:custDataLst>
          </p:nvPr>
        </p:nvSpPr>
        <p:spPr>
          <a:xfrm>
            <a:off x="4038600" y="6356350"/>
            <a:ext cx="4114800" cy="365125"/>
          </a:xfrm>
        </p:spPr>
        <p:txBody>
          <a:bodyPr/>
          <a:lstStyle>
            <a:lvl1pPr>
              <a:defRPr>
                <a:latin typeface="Arial" panose="020B0604020202090204" pitchFamily="34" charset="0"/>
              </a:defRPr>
            </a:lvl1pPr>
          </a:lstStyle>
          <a:p>
            <a:endParaRPr lang="en-US"/>
          </a:p>
        </p:txBody>
      </p:sp>
      <p:sp>
        <p:nvSpPr>
          <p:cNvPr id="11" name="灯片编号占位符 10"/>
          <p:cNvSpPr>
            <a:spLocks noGrp="1"/>
          </p:cNvSpPr>
          <p:nvPr>
            <p:ph type="sldNum" sz="quarter" idx="12"/>
            <p:custDataLst>
              <p:tags r:id="rId19"/>
            </p:custDataLst>
          </p:nvPr>
        </p:nvSpPr>
        <p:spPr>
          <a:xfrm>
            <a:off x="8753983" y="6356350"/>
            <a:ext cx="2743200" cy="365125"/>
          </a:xfrm>
        </p:spPr>
        <p:txBody>
          <a:bodyPr/>
          <a:lstStyle>
            <a:lvl1pPr>
              <a:defRPr>
                <a:latin typeface="Arial" panose="020B0604020202090204" pitchFamily="34" charset="0"/>
              </a:defRPr>
            </a:lvl1pPr>
          </a:lstStyle>
          <a:p>
            <a:fld id="{565CE74E-AB26-4998-AD42-012C4C1AD076}" type="slidenum">
              <a:rPr lang="en-US" smtClean="0"/>
            </a:fld>
            <a:endParaRPr lang="en-US"/>
          </a:p>
        </p:txBody>
      </p:sp>
      <p:sp>
        <p:nvSpPr>
          <p:cNvPr id="3" name="文本占位符 2"/>
          <p:cNvSpPr>
            <a:spLocks noGrp="1"/>
          </p:cNvSpPr>
          <p:nvPr>
            <p:ph type="body" idx="1"/>
            <p:custDataLst>
              <p:tags r:id="rId20"/>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lang="en-US" dirty="0">
                <a:latin typeface="+mn-lt"/>
              </a:rPr>
              <a:t>Click to add text</a:t>
            </a:r>
            <a:endParaRPr lang="en-US" dirty="0"/>
          </a:p>
        </p:txBody>
      </p:sp>
      <p:sp>
        <p:nvSpPr>
          <p:cNvPr id="4" name="标题占位符 3"/>
          <p:cNvSpPr>
            <a:spLocks noGrp="1"/>
          </p:cNvSpPr>
          <p:nvPr>
            <p:ph type="title"/>
            <p:custDataLst>
              <p:tags r:id="rId21"/>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en-US" dirty="0">
                <a:latin typeface="+mj-lt"/>
              </a:rPr>
              <a:t>Click to add title</a:t>
            </a:r>
            <a:endParaRPr lang="en-US" dirty="0"/>
          </a:p>
        </p:txBody>
      </p:sp>
      <p:sp>
        <p:nvSpPr>
          <p:cNvPr id="6" name="KSO_TEMPLATE" hidden="1"/>
          <p:cNvSpPr/>
          <p:nvPr>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2"/>
          </a:solidFill>
          <a:uFillTx/>
          <a:latin typeface="Arial" panose="020B0604020202090204" pitchFamily="34" charset="0"/>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kumimoji="0" lang="en-US" sz="1800" b="0" i="0" u="none" strike="noStrike" kern="1200" cap="none" spc="0" normalizeH="0" baseline="0" smtClean="0">
          <a:ln>
            <a:noFill/>
            <a:prstDash val="sysDot"/>
          </a:ln>
          <a:solidFill>
            <a:schemeClr val="tx1">
              <a:lumMod val="85000"/>
              <a:lumOff val="15000"/>
            </a:schemeClr>
          </a:solidFill>
          <a:uFillTx/>
          <a:latin typeface="Arial" panose="020B060402020209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2pPr>
      <a:lvl3pPr marL="1143000" indent="-228600" algn="l" defTabSz="914400" rtl="0" eaLnBrk="1" latinLnBrk="0" hangingPunct="1">
        <a:lnSpc>
          <a:spcPct val="90000"/>
        </a:lnSpc>
        <a:spcBef>
          <a:spcPts val="500"/>
        </a:spcBef>
        <a:buFont typeface="Arial" panose="020B060402020209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3pPr>
      <a:lvl4pPr marL="1600200" indent="-228600" algn="l" defTabSz="914400" rtl="0" eaLnBrk="1" latinLnBrk="0" hangingPunct="1">
        <a:lnSpc>
          <a:spcPct val="90000"/>
        </a:lnSpc>
        <a:spcBef>
          <a:spcPts val="500"/>
        </a:spcBef>
        <a:buFont typeface="Arial" panose="020B060402020209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4pPr>
      <a:lvl5pPr marL="2057400" indent="-228600" algn="l" defTabSz="914400" rtl="0" eaLnBrk="1" latinLnBrk="0" hangingPunct="1">
        <a:lnSpc>
          <a:spcPct val="90000"/>
        </a:lnSpc>
        <a:spcBef>
          <a:spcPts val="500"/>
        </a:spcBef>
        <a:buFont typeface="Arial" panose="020B060402020209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image" Target="../media/image9.png"/><Relationship Id="rId1" Type="http://schemas.openxmlformats.org/officeDocument/2006/relationships/tags" Target="../tags/tag233.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47.xml"/><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a:xfrm>
            <a:off x="4460086" y="583854"/>
            <a:ext cx="6724805" cy="876899"/>
          </a:xfrm>
        </p:spPr>
        <p:txBody>
          <a:bodyPr/>
          <a:lstStyle/>
          <a:p>
            <a:pPr marL="0" indent="-228600" algn="r">
              <a:lnSpc>
                <a:spcPct val="100000"/>
              </a:lnSpc>
              <a:spcBef>
                <a:spcPts val="1000"/>
              </a:spcBef>
              <a:spcAft>
                <a:spcPts val="0"/>
              </a:spcAft>
              <a:buSzPct val="100000"/>
            </a:pPr>
            <a:r>
              <a:rPr sz="2200">
                <a:ea typeface="+mn-ea"/>
              </a:rPr>
              <a:t>SQL-based analysis of cellphone sales, customers, products and regional demand</a:t>
            </a:r>
            <a:endParaRPr sz="2200">
              <a:ea typeface="+mn-ea"/>
            </a:endParaRPr>
          </a:p>
        </p:txBody>
      </p:sp>
      <p:sp>
        <p:nvSpPr>
          <p:cNvPr id="3" name="标题 2"/>
          <p:cNvSpPr>
            <a:spLocks noGrp="1"/>
          </p:cNvSpPr>
          <p:nvPr>
            <p:ph type="title" idx="2"/>
            <p:custDataLst>
              <p:tags r:id="rId2"/>
            </p:custDataLst>
          </p:nvPr>
        </p:nvSpPr>
        <p:spPr>
          <a:xfrm>
            <a:off x="4460240" y="1561719"/>
            <a:ext cx="6724650" cy="3353288"/>
          </a:xfrm>
        </p:spPr>
        <p:txBody>
          <a:bodyPr anchor="ctr" anchorCtr="0"/>
          <a:lstStyle/>
          <a:p>
            <a:pPr marL="0" indent="0" algn="r">
              <a:lnSpc>
                <a:spcPct val="100000"/>
              </a:lnSpc>
              <a:spcBef>
                <a:spcPts val="0"/>
              </a:spcBef>
              <a:spcAft>
                <a:spcPts val="0"/>
              </a:spcAft>
              <a:buSzPct val="100000"/>
            </a:pPr>
            <a:r>
              <a:rPr sz="5200">
                <a:ea typeface="+mj-ea"/>
                <a:sym typeface="+mn-ea"/>
              </a:rPr>
              <a:t>MOBILE MANUFACTURER</a:t>
            </a:r>
            <a:br>
              <a:rPr sz="5200">
                <a:ea typeface="+mj-ea"/>
                <a:sym typeface="+mn-ea"/>
              </a:rPr>
            </a:br>
            <a:r>
              <a:rPr sz="5200">
                <a:ea typeface="+mj-ea"/>
                <a:sym typeface="+mn-ea"/>
              </a:rPr>
              <a:t>DATA ANALYSIS</a:t>
            </a:r>
            <a:endParaRPr sz="5200">
              <a:ea typeface="+mj-ea"/>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a:xfrm>
            <a:off x="608330" y="2136140"/>
            <a:ext cx="10968990" cy="4113530"/>
          </a:xfrm>
        </p:spPr>
        <p:txBody>
          <a:bodyPr/>
          <a:p>
            <a:pPr marL="0" indent="0" algn="l">
              <a:buNone/>
            </a:pPr>
            <a:r>
              <a:rPr altLang="en-US">
                <a:solidFill>
                  <a:schemeClr val="tx1"/>
                </a:solidFill>
                <a:cs typeface="Arial Regular" panose="020B0604020202090204" charset="0"/>
                <a:sym typeface="+mn-ea"/>
              </a:rPr>
              <a:t>This project analyzes cellphone sales and transaction data using MySQL. The database, Cellphones Information, contains data related to manufacturers, cellphone models, customers, locations, and sales transactions.</a:t>
            </a:r>
            <a:endParaRPr lang="en-US" altLang="en-US">
              <a:solidFill>
                <a:schemeClr val="tx1"/>
              </a:solidFill>
              <a:cs typeface="Arial Regular" panose="020B0604020202090204" charset="0"/>
            </a:endParaRPr>
          </a:p>
          <a:p>
            <a:pPr marL="0" indent="0" algn="l">
              <a:buNone/>
            </a:pPr>
            <a:r>
              <a:rPr altLang="en-US">
                <a:solidFill>
                  <a:schemeClr val="tx1"/>
                </a:solidFill>
                <a:cs typeface="Arial Regular" panose="020B0604020202090204" charset="0"/>
                <a:sym typeface="+mn-ea"/>
              </a:rPr>
              <a:t>The analysis focuses on understanding cellphone sales patterns across different states, manufacturers, models, customers, and years.</a:t>
            </a:r>
            <a:endParaRPr altLang="en-US">
              <a:solidFill>
                <a:schemeClr val="tx1"/>
              </a:solidFill>
              <a:cs typeface="Arial Regular" panose="020B0604020202090204" charset="0"/>
              <a:sym typeface="+mn-ea"/>
            </a:endParaRPr>
          </a:p>
          <a:p>
            <a:pPr marL="0" indent="0" algn="l">
              <a:buNone/>
            </a:pPr>
            <a:r>
              <a:rPr lang="en-US" altLang="en-US">
                <a:solidFill>
                  <a:schemeClr val="tx1"/>
                </a:solidFill>
                <a:cs typeface="Arial Regular" panose="020B0604020202090204" charset="0"/>
                <a:sym typeface="+mn-ea"/>
              </a:rPr>
              <a:t>An interactive dashboard is built to visualize key insights, trends, and operational metrics.</a:t>
            </a:r>
            <a:endParaRPr lang="en-US" altLang="en-US">
              <a:solidFill>
                <a:schemeClr val="tx1"/>
              </a:solidFill>
              <a:cs typeface="Arial Regular" panose="020B0604020202090204" charset="0"/>
              <a:sym typeface="+mn-ea"/>
            </a:endParaRPr>
          </a:p>
          <a:p>
            <a:pPr marL="0" indent="0" algn="l">
              <a:buNone/>
            </a:pPr>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Project Overview</a:t>
            </a:r>
            <a:endParaRPr>
              <a:ea typeface="+mj-ea"/>
              <a:cs typeface="+mn-ea"/>
              <a:sym typeface="+mn-ea"/>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txBox="1">
            <a:spLocks noGrp="1"/>
          </p:cNvSpPr>
          <p:nvPr>
            <p:ph type="title" idx="5"/>
            <p:custDataLst>
              <p:tags r:id="rId1"/>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Business Problem</a:t>
            </a:r>
            <a:endParaRPr>
              <a:ea typeface="+mj-ea"/>
              <a:cs typeface="+mn-ea"/>
              <a:sym typeface="+mn-ea"/>
            </a:endParaRPr>
          </a:p>
        </p:txBody>
      </p:sp>
      <p:sp>
        <p:nvSpPr>
          <p:cNvPr id="2" name="Content Placeholder 3"/>
          <p:cNvSpPr>
            <a:spLocks noGrp="1"/>
          </p:cNvSpPr>
          <p:nvPr>
            <p:custDataLst>
              <p:tags r:id="rId2"/>
            </p:custDataLst>
          </p:nvPr>
        </p:nvSpPr>
        <p:spPr>
          <a:xfrm>
            <a:off x="608330" y="1529715"/>
            <a:ext cx="10968990" cy="2312035"/>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None/>
            </a:pPr>
            <a:endParaRPr lang="en-US" altLang="en-US" sz="1700">
              <a:solidFill>
                <a:schemeClr val="tx1"/>
              </a:solidFill>
              <a:cs typeface="Arial Regular" panose="020B0604020202090204" charset="0"/>
            </a:endParaRPr>
          </a:p>
          <a:p>
            <a:pPr marL="0" indent="0" algn="ctr">
              <a:buNone/>
            </a:pPr>
            <a:r>
              <a:rPr lang="en-US" altLang="en-US" sz="1700">
                <a:solidFill>
                  <a:schemeClr val="tx1"/>
                </a:solidFill>
                <a:cs typeface="Arial Regular" panose="020B0604020202090204" charset="0"/>
              </a:rPr>
              <a:t>The cellphone sales database contains transaction information across different manufacturers, models, customers, states, ZIP codes, and years. However, the business needs to understand how cellphone sales are distributed across regions, which manufacturers and models perform best, and how customer purchasing behavior changes over time.</a:t>
            </a:r>
            <a:endParaRPr lang="en-US" altLang="en-US" sz="1700">
              <a:solidFill>
                <a:schemeClr val="tx1"/>
              </a:solidFill>
              <a:cs typeface="Arial Regular" panose="020B0604020202090204" charset="0"/>
            </a:endParaRPr>
          </a:p>
        </p:txBody>
      </p:sp>
      <p:sp>
        <p:nvSpPr>
          <p:cNvPr id="10" name="Content Placeholder 9"/>
          <p:cNvSpPr/>
          <p:nvPr>
            <p:ph idx="6"/>
            <p:custDataLst>
              <p:tags r:id="rId3"/>
            </p:custDataLst>
          </p:nvPr>
        </p:nvSpPr>
        <p:spPr/>
        <p:txBody>
          <a:bodyPr/>
          <a:p>
            <a:endParaRPr lang="en-US"/>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OBJECTIVE</a:t>
            </a:r>
            <a:endParaRPr>
              <a:ea typeface="+mj-ea"/>
              <a:cs typeface="+mn-ea"/>
              <a:sym typeface="+mn-ea"/>
            </a:endParaRPr>
          </a:p>
        </p:txBody>
      </p:sp>
      <p:sp>
        <p:nvSpPr>
          <p:cNvPr id="2" name="Content Placeholder 3"/>
          <p:cNvSpPr>
            <a:spLocks noGrp="1"/>
          </p:cNvSpPr>
          <p:nvPr>
            <p:custDataLst>
              <p:tags r:id="rId3"/>
            </p:custDataLst>
          </p:nvPr>
        </p:nvSpPr>
        <p:spPr>
          <a:xfrm>
            <a:off x="608400" y="1490400"/>
            <a:ext cx="10969200" cy="475920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hangingPunct="0">
              <a:buFont typeface="Arial" panose="020B0604020202090204" pitchFamily="34" charset="0"/>
              <a:buChar char="•"/>
            </a:pPr>
            <a:r>
              <a:rPr lang="en-US" altLang="en-US" sz="1700">
                <a:solidFill>
                  <a:schemeClr val="tx1"/>
                </a:solidFill>
                <a:cs typeface="Arial Regular" panose="020B0604020202090204" charset="0"/>
              </a:rPr>
              <a:t>Analyze cellphone sales across different states and locations. </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a:solidFill>
                  <a:schemeClr val="tx1"/>
                </a:solidFill>
                <a:cs typeface="Arial Regular" panose="020B0604020202090204" charset="0"/>
              </a:rPr>
              <a:t>Identify the top-performing manufacturers and models based on sales and quantity. </a:t>
            </a:r>
            <a:endParaRPr lang="en-US" altLang="en-US" sz="1700">
              <a:solidFill>
                <a:schemeClr val="tx1"/>
              </a:solidFill>
              <a:cs typeface="Arial Regular" panose="020B0604020202090204" charset="0"/>
            </a:endParaRPr>
          </a:p>
          <a:p>
            <a:pPr algn="l" hangingPunct="0">
              <a:buFont typeface="Arial" panose="020B0604020202090204" pitchFamily="34" charset="0"/>
              <a:buChar char="•"/>
            </a:pPr>
            <a:r>
              <a:rPr lang="en-US" altLang="en-US" sz="1700">
                <a:solidFill>
                  <a:schemeClr val="tx1"/>
                </a:solidFill>
                <a:cs typeface="Arial Regular" panose="020B0604020202090204" charset="0"/>
              </a:rPr>
              <a:t>Analyze customer spending and behaviour change across different years. </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a:solidFill>
                  <a:schemeClr val="tx1"/>
                </a:solidFill>
                <a:cs typeface="Arial Regular" panose="020B0604020202090204" charset="0"/>
              </a:rPr>
              <a:t>Compare manufacturer and model performance across 2008, 2009, and 2010. </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a:solidFill>
                  <a:schemeClr val="tx1"/>
                </a:solidFill>
                <a:cs typeface="Arial Regular" panose="020B0604020202090204" charset="0"/>
              </a:rPr>
              <a:t>Identify changes and trends in sales and customer spending over time. </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a:solidFill>
                  <a:schemeClr val="tx1"/>
                </a:solidFill>
                <a:cs typeface="Arial Regular" panose="020B0604020202090204" charset="0"/>
              </a:rPr>
              <a:t>Use SQL queries to extract meaningful insights from the database.</a:t>
            </a: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DATASET DESCRIPTION</a:t>
            </a:r>
            <a:endParaRPr>
              <a:ea typeface="+mj-ea"/>
              <a:cs typeface="+mn-ea"/>
              <a:sym typeface="+mn-ea"/>
            </a:endParaRPr>
          </a:p>
        </p:txBody>
      </p:sp>
      <p:sp>
        <p:nvSpPr>
          <p:cNvPr id="2" name="Content Placeholder 3"/>
          <p:cNvSpPr>
            <a:spLocks noGrp="1"/>
          </p:cNvSpPr>
          <p:nvPr>
            <p:custDataLst>
              <p:tags r:id="rId3"/>
            </p:custDataLst>
          </p:nvPr>
        </p:nvSpPr>
        <p:spPr>
          <a:xfrm>
            <a:off x="608400" y="1490400"/>
            <a:ext cx="10969200" cy="475920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hangingPunct="0">
              <a:buFont typeface="Arial" panose="020B0604020202090204" pitchFamily="34" charset="0"/>
              <a:buChar char="•"/>
            </a:pPr>
            <a:r>
              <a:rPr lang="en-US" altLang="en-US" sz="1700" b="1">
                <a:solidFill>
                  <a:schemeClr val="tx1"/>
                </a:solidFill>
                <a:cs typeface="Arial Regular" panose="020B0604020202090204" charset="0"/>
              </a:rPr>
              <a:t>Dim_manufacturer: </a:t>
            </a:r>
            <a:r>
              <a:rPr lang="en-US" altLang="en-US" sz="1700">
                <a:solidFill>
                  <a:schemeClr val="tx1"/>
                </a:solidFill>
                <a:cs typeface="Arial Regular" panose="020B0604020202090204" charset="0"/>
              </a:rPr>
              <a:t>Contains manufacturer information ; IdManufacturer and Manufacturer_name. IdManufacturer is the primary key</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b="1">
                <a:solidFill>
                  <a:schemeClr val="tx1"/>
                </a:solidFill>
                <a:cs typeface="Arial Regular" panose="020B0604020202090204" charset="0"/>
              </a:rPr>
              <a:t>Dim_model:</a:t>
            </a:r>
            <a:r>
              <a:rPr lang="en-US" altLang="en-US" sz="1700">
                <a:solidFill>
                  <a:schemeClr val="tx1"/>
                </a:solidFill>
                <a:cs typeface="Arial Regular" panose="020B0604020202090204" charset="0"/>
              </a:rPr>
              <a:t> Contains cellphone model information that is IdModel, Model_name, Unit-price and IdManufacturer. IdModel is the primary key and IdManufacturer is the foreign key.</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b="1">
                <a:solidFill>
                  <a:schemeClr val="tx1"/>
                </a:solidFill>
                <a:cs typeface="Arial Regular" panose="020B0604020202090204" charset="0"/>
              </a:rPr>
              <a:t>Dim_customer:</a:t>
            </a:r>
            <a:r>
              <a:rPr lang="en-US" altLang="en-US" sz="1700">
                <a:solidFill>
                  <a:schemeClr val="tx1"/>
                </a:solidFill>
                <a:cs typeface="Arial Regular" panose="020B0604020202090204" charset="0"/>
              </a:rPr>
              <a:t> Contains customer information; IdCustomer, Customer_name, Email and Phone. IDcustomer is the primary key.</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b="1">
                <a:solidFill>
                  <a:schemeClr val="tx1"/>
                </a:solidFill>
                <a:cs typeface="Arial Regular" panose="020B0604020202090204" charset="0"/>
              </a:rPr>
              <a:t>Dim_Location:</a:t>
            </a:r>
            <a:r>
              <a:rPr lang="en-US" altLang="en-US" sz="1700">
                <a:solidFill>
                  <a:schemeClr val="tx1"/>
                </a:solidFill>
                <a:cs typeface="Arial Regular" panose="020B0604020202090204" charset="0"/>
              </a:rPr>
              <a:t> Contains location-related information; IDLocation, Zipcode, Country, etc. IdLocation is the primary key.</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b="1">
                <a:solidFill>
                  <a:schemeClr val="tx1"/>
                </a:solidFill>
                <a:cs typeface="Arial Regular" panose="020B0604020202090204" charset="0"/>
              </a:rPr>
              <a:t>Fact_Transactions:</a:t>
            </a:r>
            <a:r>
              <a:rPr lang="en-US" altLang="en-US" sz="1700">
                <a:solidFill>
                  <a:schemeClr val="tx1"/>
                </a:solidFill>
                <a:cs typeface="Arial Regular" panose="020B0604020202090204" charset="0"/>
              </a:rPr>
              <a:t> Contains cellphone sales and transaction information like IdModel (foreign key), IdCustomer (foreign key), IdLocation (foreign key), Date, Totalprice and Quantity.</a:t>
            </a:r>
            <a:endParaRPr lang="en-US" altLang="en-US" sz="1700">
              <a:solidFill>
                <a:schemeClr val="tx1"/>
              </a:solidFill>
              <a:cs typeface="Arial Regular" panose="020B0604020202090204" charset="0"/>
            </a:endParaRPr>
          </a:p>
          <a:p>
            <a:pPr algn="just" hangingPunct="0">
              <a:buFont typeface="Arial" panose="020B0604020202090204" pitchFamily="34" charset="0"/>
              <a:buChar char="•"/>
            </a:pPr>
            <a:r>
              <a:rPr lang="en-US" altLang="en-US" sz="1700" b="1">
                <a:solidFill>
                  <a:schemeClr val="tx1"/>
                </a:solidFill>
                <a:cs typeface="Arial Regular" panose="020B0604020202090204" charset="0"/>
              </a:rPr>
              <a:t>Dim_date:</a:t>
            </a:r>
            <a:r>
              <a:rPr lang="en-US" altLang="en-US" sz="1700">
                <a:solidFill>
                  <a:schemeClr val="tx1"/>
                </a:solidFill>
                <a:cs typeface="Arial Regular" panose="020B0604020202090204" charset="0"/>
              </a:rPr>
              <a:t> Contains date, year, quarter and month.</a:t>
            </a: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BUSINESS QUESTIONS</a:t>
            </a:r>
            <a:endParaRPr>
              <a:ea typeface="+mj-ea"/>
              <a:cs typeface="+mn-ea"/>
              <a:sym typeface="+mn-ea"/>
            </a:endParaRPr>
          </a:p>
        </p:txBody>
      </p:sp>
      <p:sp>
        <p:nvSpPr>
          <p:cNvPr id="2" name="Content Placeholder 3"/>
          <p:cNvSpPr>
            <a:spLocks noGrp="1"/>
          </p:cNvSpPr>
          <p:nvPr>
            <p:custDataLst>
              <p:tags r:id="rId3"/>
            </p:custDataLst>
          </p:nvPr>
        </p:nvSpPr>
        <p:spPr>
          <a:xfrm>
            <a:off x="608330" y="1489710"/>
            <a:ext cx="10968990" cy="4759960"/>
          </a:xfrm>
          <a:prstGeom prst="rect">
            <a:avLst/>
          </a:prstGeom>
          <a:ln>
            <a:noFill/>
            <a:prstDash val="sysDash"/>
          </a:ln>
        </p:spPr>
        <p:txBody>
          <a:bodyPr vert="horz" wrap="square" lIns="90000" tIns="46800" rIns="90000" bIns="46800" rtlCol="0">
            <a:normAutofit fontScale="90000"/>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hangingPunct="0">
              <a:buFont typeface="Arial" panose="020B0604020202090204" pitchFamily="34" charset="0"/>
              <a:buNone/>
            </a:pPr>
            <a:r>
              <a:rPr lang="en-US" altLang="en-US" sz="1700">
                <a:solidFill>
                  <a:schemeClr val="tx1"/>
                </a:solidFill>
                <a:cs typeface="Arial Regular" panose="020B0604020202090204" charset="0"/>
              </a:rPr>
              <a:t>Q. Which states have customers who purchased cellphones from 2005 onwards?</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US state has the highest number of Samsung cellphone purchases?</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How many transactions were made for each model by ZIP code and state?</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is the cheapest cellphone and what is its price?</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What is the average price of models belonging to the top 5 manufacturers by sales quantity?</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customers spent more than $500 on average in 2009 and the average amount they spent?</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models were among the top 5 by quantity in 2008, 2009, and 2010 simultaneously?</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manufacturer had the second-highest sales in 2009 and 2010?</a:t>
            </a:r>
            <a:endParaRPr lang="en-US" altLang="en-US" sz="1700">
              <a:solidFill>
                <a:schemeClr val="tx1"/>
              </a:solidFill>
              <a:cs typeface="Arial Regular" panose="020B0604020202090204" charset="0"/>
            </a:endParaRPr>
          </a:p>
          <a:p>
            <a:pPr marL="0" indent="0" algn="just" hangingPunct="0">
              <a:buNone/>
            </a:pPr>
            <a:r>
              <a:rPr lang="en-US" altLang="en-US" sz="1700">
                <a:solidFill>
                  <a:schemeClr val="tx1"/>
                </a:solidFill>
                <a:cs typeface="Arial Regular" panose="020B0604020202090204" charset="0"/>
              </a:rPr>
              <a:t>Q. Which manufacturers sold cellphones in 2010 but not in 2009?</a:t>
            </a:r>
            <a:endParaRPr lang="en-US" altLang="en-US" sz="1700">
              <a:solidFill>
                <a:schemeClr val="tx1"/>
              </a:solidFill>
              <a:cs typeface="Arial Regular" panose="020B0604020202090204" charset="0"/>
            </a:endParaRPr>
          </a:p>
          <a:p>
            <a:pPr marL="0" indent="0" algn="l" hangingPunct="0">
              <a:buNone/>
            </a:pPr>
            <a:r>
              <a:rPr lang="en-US" altLang="en-US" sz="1700">
                <a:solidFill>
                  <a:schemeClr val="tx1"/>
                </a:solidFill>
                <a:cs typeface="Arial Regular" panose="020B0604020202090204" charset="0"/>
              </a:rPr>
              <a:t>Q. Who are the top 100 customers based on average spending, average quantity purchased and how          did their spending change year over year?</a:t>
            </a: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txBox="1">
            <a:spLocks noGrp="1"/>
          </p:cNvSpPr>
          <p:nvPr>
            <p:ph type="title" idx="5"/>
            <p:custDataLst>
              <p:tags r:id="rId1"/>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PROJECT APPROACH</a:t>
            </a:r>
            <a:endParaRPr>
              <a:ea typeface="+mj-ea"/>
              <a:cs typeface="+mn-ea"/>
              <a:sym typeface="+mn-ea"/>
            </a:endParaRPr>
          </a:p>
        </p:txBody>
      </p:sp>
      <p:sp>
        <p:nvSpPr>
          <p:cNvPr id="2" name="Content Placeholder 3"/>
          <p:cNvSpPr>
            <a:spLocks noGrp="1"/>
          </p:cNvSpPr>
          <p:nvPr>
            <p:custDataLst>
              <p:tags r:id="rId2"/>
            </p:custDataLst>
          </p:nvPr>
        </p:nvSpPr>
        <p:spPr>
          <a:xfrm>
            <a:off x="608330" y="1588135"/>
            <a:ext cx="10968990" cy="4661535"/>
          </a:xfrm>
          <a:prstGeom prst="rect">
            <a:avLst/>
          </a:prstGeom>
          <a:ln>
            <a:noFill/>
            <a:prstDash val="sysDash"/>
          </a:ln>
        </p:spPr>
        <p:txBody>
          <a:bodyPr vert="horz" wrap="square" lIns="90000" tIns="46800" rIns="90000" bIns="46800" rtlCol="0">
            <a:normAutofit fontScale="65000"/>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hangingPunct="0">
              <a:buFont typeface="Arial" panose="020B0604020202090204" pitchFamily="34" charset="0"/>
              <a:buNone/>
            </a:pPr>
            <a:r>
              <a:rPr lang="en-US" altLang="en-US" b="1">
                <a:solidFill>
                  <a:schemeClr val="tx1"/>
                </a:solidFill>
                <a:cs typeface="Arial Bold" panose="020B0604020202090204" charset="0"/>
              </a:rPr>
              <a:t>Understanding Business Problem</a:t>
            </a:r>
            <a:endParaRPr lang="en-US" altLang="en-US" b="1">
              <a:solidFill>
                <a:schemeClr val="tx1"/>
              </a:solidFill>
              <a:cs typeface="Arial Bold" panose="020B0604020202090204" charset="0"/>
            </a:endParaRPr>
          </a:p>
          <a:p>
            <a:pPr marL="0" indent="0" algn="just" hangingPunct="0">
              <a:buFont typeface="Arial" panose="020B0604020202090204" pitchFamily="34" charset="0"/>
              <a:buNone/>
            </a:pPr>
            <a:r>
              <a:rPr lang="en-US" altLang="en-US" sz="1700">
                <a:solidFill>
                  <a:schemeClr val="tx1"/>
                </a:solidFill>
                <a:cs typeface="Arial Regular" panose="020B0604020202090204" charset="0"/>
              </a:rPr>
              <a:t>Define key business requirements related to sales, products, and customer behavior.</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r>
              <a:rPr lang="en-US" altLang="en-US" b="1">
                <a:solidFill>
                  <a:schemeClr val="tx1"/>
                </a:solidFill>
                <a:cs typeface="Arial Bold" panose="020B0604020202090204" charset="0"/>
              </a:rPr>
              <a:t>Understanding the Data and Data preparation</a:t>
            </a:r>
            <a:endParaRPr lang="en-US" altLang="en-US" b="1">
              <a:solidFill>
                <a:schemeClr val="tx1"/>
              </a:solidFill>
              <a:cs typeface="Arial Bold" panose="020B0604020202090204" charset="0"/>
            </a:endParaRPr>
          </a:p>
          <a:p>
            <a:pPr marL="0" indent="0" algn="just" hangingPunct="0">
              <a:buFont typeface="Arial" panose="020B0604020202090204" pitchFamily="34" charset="0"/>
              <a:buNone/>
            </a:pPr>
            <a:r>
              <a:rPr lang="en-US" altLang="en-US" sz="1700">
                <a:solidFill>
                  <a:schemeClr val="tx1"/>
                </a:solidFill>
                <a:cs typeface="Arial Regular" panose="020B0604020202090204" charset="0"/>
              </a:rPr>
              <a:t>Review database tables, relationships, and relevant transaction fields.</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r>
              <a:rPr lang="en-US" altLang="en-US" b="1">
                <a:solidFill>
                  <a:schemeClr val="tx1"/>
                </a:solidFill>
                <a:cs typeface="Arial Bold" panose="020B0604020202090204" charset="0"/>
              </a:rPr>
              <a:t>SQL Analysis</a:t>
            </a:r>
            <a:endParaRPr lang="en-US" altLang="en-US" b="1">
              <a:solidFill>
                <a:schemeClr val="tx1"/>
              </a:solidFill>
              <a:cs typeface="Arial Bold" panose="020B0604020202090204" charset="0"/>
            </a:endParaRPr>
          </a:p>
          <a:p>
            <a:pPr marL="0" indent="0" algn="just" hangingPunct="0">
              <a:buFont typeface="Arial" panose="020B0604020202090204" pitchFamily="34" charset="0"/>
              <a:buNone/>
            </a:pPr>
            <a:r>
              <a:rPr lang="en-US" altLang="en-US" sz="1700">
                <a:solidFill>
                  <a:schemeClr val="tx1"/>
                </a:solidFill>
                <a:cs typeface="Arial Regular" panose="020B0604020202090204" charset="0"/>
              </a:rPr>
              <a:t>Use JOINs, Group by, aggregations, subqueries, Intersect, Except and Lag() to answer business questions.</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r>
              <a:rPr lang="en-US" altLang="en-US" sz="1800" b="1">
                <a:solidFill>
                  <a:schemeClr val="tx1"/>
                </a:solidFill>
                <a:cs typeface="Arial Bold" panose="020B0604020202090204" charset="0"/>
              </a:rPr>
              <a:t>Power BI Dashboard Development</a:t>
            </a:r>
            <a:endParaRPr lang="en-US" altLang="en-US" sz="1800" b="1">
              <a:solidFill>
                <a:schemeClr val="tx1"/>
              </a:solidFill>
              <a:cs typeface="Arial Bold" panose="020B0604020202090204" charset="0"/>
            </a:endParaRPr>
          </a:p>
          <a:p>
            <a:pPr marL="0" algn="just" hangingPunct="0">
              <a:buFont typeface="Arial" panose="020B0604020202090204" pitchFamily="34" charset="0"/>
              <a:buNone/>
            </a:pPr>
            <a:r>
              <a:rPr lang="en-US" altLang="en-US" sz="1700">
                <a:solidFill>
                  <a:schemeClr val="tx1"/>
                </a:solidFill>
                <a:cs typeface="Arial Regular" panose="020B0604020202090204" charset="0"/>
              </a:rPr>
              <a:t>Build interactive visual reports featuring KPI cards, geo map, and dynamic slicers.</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r>
              <a:rPr lang="en-US" altLang="en-US" b="1">
                <a:solidFill>
                  <a:schemeClr val="tx1"/>
                </a:solidFill>
                <a:cs typeface="Arial Bold" panose="020B0604020202090204" charset="0"/>
              </a:rPr>
              <a:t>Identify Key Findings</a:t>
            </a:r>
            <a:endParaRPr lang="en-US" altLang="en-US" b="1">
              <a:solidFill>
                <a:schemeClr val="tx1"/>
              </a:solidFill>
              <a:cs typeface="Arial Bold" panose="020B0604020202090204" charset="0"/>
            </a:endParaRPr>
          </a:p>
          <a:p>
            <a:pPr marL="0" indent="0" algn="just" hangingPunct="0">
              <a:buFont typeface="Arial" panose="020B0604020202090204" pitchFamily="34" charset="0"/>
              <a:buNone/>
            </a:pPr>
            <a:r>
              <a:rPr lang="en-US" altLang="en-US" sz="1700">
                <a:solidFill>
                  <a:schemeClr val="tx1"/>
                </a:solidFill>
                <a:cs typeface="Arial Regular" panose="020B0604020202090204" charset="0"/>
              </a:rPr>
              <a:t>Analyze regional demand, product performance, manufacturer trends, and customer spending.</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r>
              <a:rPr lang="en-US" altLang="en-US" b="1">
                <a:solidFill>
                  <a:schemeClr val="tx1"/>
                </a:solidFill>
                <a:cs typeface="Arial Bold" panose="020B0604020202090204" charset="0"/>
              </a:rPr>
              <a:t>Business Recommendations</a:t>
            </a:r>
            <a:endParaRPr lang="en-US" altLang="en-US" b="1">
              <a:solidFill>
                <a:schemeClr val="tx1"/>
              </a:solidFill>
              <a:cs typeface="Arial Bold" panose="020B0604020202090204" charset="0"/>
            </a:endParaRPr>
          </a:p>
          <a:p>
            <a:pPr marL="0" indent="0" algn="just" hangingPunct="0">
              <a:buFont typeface="Arial" panose="020B0604020202090204" pitchFamily="34" charset="0"/>
              <a:buNone/>
            </a:pPr>
            <a:r>
              <a:rPr lang="en-US" altLang="en-US" sz="1700">
                <a:solidFill>
                  <a:schemeClr val="tx1"/>
                </a:solidFill>
              </a:rPr>
              <a:t>Improved regional sales, overall sales, customer retention, and marketing strategies with the help of findings.</a:t>
            </a:r>
            <a:endParaRPr lang="en-US" altLang="en-US" sz="1700">
              <a:solidFill>
                <a:schemeClr val="tx1"/>
              </a:solidFill>
            </a:endParaRPr>
          </a:p>
        </p:txBody>
      </p:sp>
      <p:sp>
        <p:nvSpPr>
          <p:cNvPr id="8" name="Content Placeholder 7"/>
          <p:cNvSpPr/>
          <p:nvPr>
            <p:ph idx="6"/>
            <p:custDataLst>
              <p:tags r:id="rId3"/>
            </p:custDataLst>
          </p:nvPr>
        </p:nvSpPr>
        <p:spPr/>
        <p:txBody>
          <a:bodyPr/>
          <a:p>
            <a:endParaRPr 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KEY FINDINGS</a:t>
            </a:r>
            <a:endParaRPr>
              <a:ea typeface="+mj-ea"/>
              <a:cs typeface="+mn-ea"/>
              <a:sym typeface="+mn-ea"/>
            </a:endParaRPr>
          </a:p>
        </p:txBody>
      </p:sp>
      <p:sp>
        <p:nvSpPr>
          <p:cNvPr id="2" name="Content Placeholder 3"/>
          <p:cNvSpPr>
            <a:spLocks noGrp="1"/>
          </p:cNvSpPr>
          <p:nvPr>
            <p:custDataLst>
              <p:tags r:id="rId3"/>
            </p:custDataLst>
          </p:nvPr>
        </p:nvSpPr>
        <p:spPr>
          <a:xfrm>
            <a:off x="608330" y="1489710"/>
            <a:ext cx="10968990" cy="4759960"/>
          </a:xfrm>
          <a:prstGeom prst="rect">
            <a:avLst/>
          </a:prstGeom>
          <a:ln>
            <a:noFill/>
            <a:prstDash val="sysDash"/>
          </a:ln>
        </p:spPr>
        <p:txBody>
          <a:bodyPr vert="horz" wrap="square" lIns="90000" tIns="46800" rIns="90000" bIns="46800" rtlCol="0">
            <a:normAutofit fontScale="90000"/>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hangingPunct="0"/>
            <a:r>
              <a:rPr lang="en-US" altLang="en-US" sz="1700">
                <a:solidFill>
                  <a:schemeClr val="tx1"/>
                </a:solidFill>
                <a:cs typeface="Arial Regular" panose="020B0604020202090204" charset="0"/>
              </a:rPr>
              <a:t>Cellphone purchase was made in all seven states; Arizona, Maryland, Haryana, California, Maharashtra, Delhi and Karnataka since 2005.</a:t>
            </a:r>
            <a:endParaRPr lang="en-US" altLang="en-US" sz="1700">
              <a:solidFill>
                <a:schemeClr val="tx1"/>
              </a:solidFill>
              <a:cs typeface="Arial Regular" panose="020B0604020202090204" charset="0"/>
            </a:endParaRPr>
          </a:p>
          <a:p>
            <a:pPr algn="l" hangingPunct="0"/>
            <a:r>
              <a:rPr lang="en-US" altLang="en-US" sz="1700">
                <a:solidFill>
                  <a:schemeClr val="tx1"/>
                </a:solidFill>
                <a:cs typeface="Arial Regular" panose="020B0604020202090204" charset="0"/>
              </a:rPr>
              <a:t>Arizona is the only US state where highest number of Samsung cellphones are purchased, indicating strong Samsung demand in the state.</a:t>
            </a:r>
            <a:endParaRPr lang="en-US" altLang="en-US" sz="1700">
              <a:solidFill>
                <a:schemeClr val="tx1"/>
              </a:solidFill>
              <a:cs typeface="Arial Regular" panose="020B0604020202090204" charset="0"/>
            </a:endParaRPr>
          </a:p>
          <a:p>
            <a:pPr algn="l" hangingPunct="0"/>
            <a:r>
              <a:rPr lang="en-US" altLang="en-US" sz="1700">
                <a:solidFill>
                  <a:schemeClr val="tx1"/>
                </a:solidFill>
                <a:cs typeface="Arial Regular" panose="020B0604020202090204" charset="0"/>
              </a:rPr>
              <a:t>Analyzed the number of transactions by cellphone model, ZIP code, and state. The transaction volumes varied by state and ZIP code, which indicates differences in product demand across regions.</a:t>
            </a:r>
            <a:endParaRPr lang="en-US" altLang="en-US" sz="1700">
              <a:solidFill>
                <a:schemeClr val="tx1"/>
              </a:solidFill>
              <a:cs typeface="Arial Regular" panose="020B0604020202090204" charset="0"/>
            </a:endParaRPr>
          </a:p>
          <a:p>
            <a:pPr algn="l" hangingPunct="0"/>
            <a:r>
              <a:rPr lang="en-US" altLang="en-US" sz="1700">
                <a:solidFill>
                  <a:schemeClr val="tx1"/>
                </a:solidFill>
                <a:cs typeface="Arial Regular" panose="020B0604020202090204" charset="0"/>
              </a:rPr>
              <a:t>Model- 3210 was identified the cheapest cellphone model and its price is $14 units.</a:t>
            </a:r>
            <a:endParaRPr lang="en-US" altLang="en-US" sz="1700">
              <a:solidFill>
                <a:schemeClr val="tx1"/>
              </a:solidFill>
              <a:cs typeface="Arial Regular" panose="020B0604020202090204" charset="0"/>
            </a:endParaRPr>
          </a:p>
          <a:p>
            <a:pPr algn="l" hangingPunct="0"/>
            <a:r>
              <a:rPr lang="en-US" altLang="en-US" sz="1700">
                <a:solidFill>
                  <a:schemeClr val="tx1"/>
                </a:solidFill>
                <a:cs typeface="Arial Regular" panose="020B0604020202090204" charset="0"/>
              </a:rPr>
              <a:t>The analysis of the top manufacturers helped compare their sales performance and the average prices of their models.</a:t>
            </a:r>
            <a:endParaRPr lang="en-US" altLang="en-US" sz="1700">
              <a:solidFill>
                <a:schemeClr val="tx1"/>
              </a:solidFill>
              <a:cs typeface="Arial Regular" panose="020B0604020202090204" charset="0"/>
            </a:endParaRPr>
          </a:p>
          <a:p>
            <a:pPr algn="just" hangingPunct="0"/>
            <a:r>
              <a:rPr altLang="en-US" sz="1700">
                <a:solidFill>
                  <a:schemeClr val="tx1"/>
                </a:solidFill>
                <a:cs typeface="Arial Regular" panose="020B0604020202090204" charset="0"/>
                <a:sym typeface="+mn-ea"/>
              </a:rPr>
              <a:t> Identified six high value customers with an average spending of more than $500 in 2009.</a:t>
            </a:r>
            <a:endParaRPr lang="en-US" altLang="en-US" sz="1700">
              <a:solidFill>
                <a:schemeClr val="tx1"/>
              </a:solidFill>
              <a:cs typeface="Arial Regular" panose="020B0604020202090204" charset="0"/>
            </a:endParaRPr>
          </a:p>
          <a:p>
            <a:pPr algn="just" hangingPunct="0"/>
            <a:r>
              <a:rPr altLang="en-US" sz="1700">
                <a:solidFill>
                  <a:schemeClr val="tx1"/>
                </a:solidFill>
                <a:cs typeface="Arial Regular" panose="020B0604020202090204" charset="0"/>
                <a:sym typeface="+mn-ea"/>
              </a:rPr>
              <a:t>Model-109 remained among the top five most purchased models in 2008, 2009, and 2010, indicating consistent customer demand.</a:t>
            </a:r>
            <a:endParaRPr lang="en-US" altLang="en-US" sz="1700">
              <a:solidFill>
                <a:schemeClr val="tx1"/>
              </a:solidFill>
              <a:cs typeface="Arial Regular" panose="020B0604020202090204" charset="0"/>
            </a:endParaRPr>
          </a:p>
          <a:p>
            <a:pPr marL="0" indent="0" algn="just" hangingPunct="0">
              <a:buFont typeface="Arial" panose="020B0604020202090204" pitchFamily="34" charset="0"/>
              <a:buNone/>
            </a:pP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KEY FINDINGS</a:t>
            </a:r>
            <a:endParaRPr>
              <a:ea typeface="+mj-ea"/>
              <a:cs typeface="+mn-ea"/>
              <a:sym typeface="+mn-ea"/>
            </a:endParaRPr>
          </a:p>
        </p:txBody>
      </p:sp>
      <p:sp>
        <p:nvSpPr>
          <p:cNvPr id="2" name="Content Placeholder 3"/>
          <p:cNvSpPr>
            <a:spLocks noGrp="1"/>
          </p:cNvSpPr>
          <p:nvPr>
            <p:custDataLst>
              <p:tags r:id="rId3"/>
            </p:custDataLst>
          </p:nvPr>
        </p:nvSpPr>
        <p:spPr>
          <a:xfrm>
            <a:off x="608330" y="1489710"/>
            <a:ext cx="10968990" cy="475996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hangingPunct="0"/>
            <a:r>
              <a:rPr lang="en-US" altLang="en-US" sz="1700">
                <a:solidFill>
                  <a:schemeClr val="tx1"/>
                </a:solidFill>
                <a:cs typeface="Arial Regular" panose="020B0604020202090204" charset="0"/>
              </a:rPr>
              <a:t>Samsung had the second-highest sales in 2009, while Apple ranked second in 2010, showing a change in manufacturer’s performance.</a:t>
            </a:r>
            <a:endParaRPr lang="en-US" altLang="en-US" sz="1700">
              <a:solidFill>
                <a:schemeClr val="tx1"/>
              </a:solidFill>
              <a:cs typeface="Arial Regular" panose="020B0604020202090204" charset="0"/>
            </a:endParaRPr>
          </a:p>
          <a:p>
            <a:pPr algn="just" hangingPunct="0"/>
            <a:r>
              <a:rPr lang="en-US" altLang="en-US" sz="1700">
                <a:solidFill>
                  <a:schemeClr val="tx1"/>
                </a:solidFill>
                <a:cs typeface="Arial Regular" panose="020B0604020202090204" charset="0"/>
              </a:rPr>
              <a:t>HTC recorded sales in 2010 but had no record of sales in 2009, indicating a change in it’s sales.</a:t>
            </a:r>
            <a:endParaRPr lang="en-US" altLang="en-US" sz="1700">
              <a:solidFill>
                <a:schemeClr val="tx1"/>
              </a:solidFill>
              <a:cs typeface="Arial Regular" panose="020B0604020202090204" charset="0"/>
            </a:endParaRPr>
          </a:p>
          <a:p>
            <a:pPr algn="just" hangingPunct="0"/>
            <a:r>
              <a:rPr lang="en-US" altLang="en-US" sz="1700">
                <a:solidFill>
                  <a:schemeClr val="tx1"/>
                </a:solidFill>
                <a:cs typeface="Arial Regular" panose="020B0604020202090204" charset="0"/>
              </a:rPr>
              <a:t>Analyzed the top 100 customers, including their average spending, average quantity purchased, and changes in spending over time to under the customer purchasing behaviour.</a:t>
            </a: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6"/>
            <p:custDataLst>
              <p:tags r:id="rId1"/>
            </p:custDataLst>
          </p:nvPr>
        </p:nvPicPr>
        <p:blipFill>
          <a:blip r:embed="rId2"/>
          <a:stretch>
            <a:fillRect/>
          </a:stretch>
        </p:blipFill>
        <p:spPr>
          <a:xfrm>
            <a:off x="829310" y="1313180"/>
            <a:ext cx="10507980" cy="5132705"/>
          </a:xfrm>
          <a:prstGeom prst="rect">
            <a:avLst/>
          </a:prstGeom>
        </p:spPr>
      </p:pic>
      <p:sp>
        <p:nvSpPr>
          <p:cNvPr id="3" name="Title 2"/>
          <p:cNvSpPr>
            <a:spLocks noGrp="1"/>
          </p:cNvSpPr>
          <p:nvPr>
            <p:ph type="title" idx="5"/>
            <p:custDataLst>
              <p:tags r:id="rId3"/>
            </p:custDataLst>
          </p:nvPr>
        </p:nvSpPr>
        <p:spPr/>
        <p:txBody>
          <a:bodyPr/>
          <a:p>
            <a:r>
              <a:rPr lang="en-US" altLang="en-US"/>
              <a:t>Mobile Manufacturer Analysis Dashboard</a:t>
            </a:r>
            <a:endParaRPr lang="en-US" altLang="en-US"/>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BUSINESS INSIGHT</a:t>
            </a:r>
            <a:endParaRPr>
              <a:ea typeface="+mj-ea"/>
              <a:cs typeface="+mn-ea"/>
              <a:sym typeface="+mn-ea"/>
            </a:endParaRPr>
          </a:p>
        </p:txBody>
      </p:sp>
      <p:sp>
        <p:nvSpPr>
          <p:cNvPr id="2" name="Content Placeholder 3"/>
          <p:cNvSpPr>
            <a:spLocks noGrp="1"/>
          </p:cNvSpPr>
          <p:nvPr>
            <p:custDataLst>
              <p:tags r:id="rId3"/>
            </p:custDataLst>
          </p:nvPr>
        </p:nvSpPr>
        <p:spPr>
          <a:xfrm>
            <a:off x="608400" y="1490400"/>
            <a:ext cx="10969200" cy="475920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hangingPunct="0"/>
            <a:r>
              <a:rPr lang="en-US" altLang="en-US" sz="1700">
                <a:solidFill>
                  <a:schemeClr val="tx1"/>
                </a:solidFill>
                <a:cs typeface="Arial Regular" panose="020B0604020202090204" charset="0"/>
              </a:rPr>
              <a:t>Focus on high-demand products: Models such as Model 109, which showed consistent demand across multiple years, should receive priority in inventory and promotional planning.</a:t>
            </a:r>
            <a:endParaRPr lang="en-US" altLang="en-US" sz="1700">
              <a:solidFill>
                <a:schemeClr val="tx1"/>
              </a:solidFill>
              <a:cs typeface="Arial Regular" panose="020B0604020202090204" charset="0"/>
            </a:endParaRPr>
          </a:p>
          <a:p>
            <a:pPr algn="just" hangingPunct="0"/>
            <a:endParaRPr lang="en-US" altLang="en-US" sz="1700">
              <a:solidFill>
                <a:schemeClr val="tx1"/>
              </a:solidFill>
              <a:cs typeface="Arial Regular" panose="020B0604020202090204" charset="0"/>
            </a:endParaRPr>
          </a:p>
          <a:p>
            <a:pPr algn="just" hangingPunct="0"/>
            <a:r>
              <a:rPr lang="en-US" altLang="en-US" sz="1700">
                <a:solidFill>
                  <a:schemeClr val="tx1"/>
                </a:solidFill>
                <a:cs typeface="Arial Regular" panose="020B0604020202090204" charset="0"/>
              </a:rPr>
              <a:t>Target high-performing regions: Arizona was found the state in US with highest Samsung sales. Company can increase Samsung promotions and inventory in that region to achieve more sales.</a:t>
            </a:r>
            <a:endParaRPr lang="en-US" altLang="en-US" sz="1700">
              <a:solidFill>
                <a:schemeClr val="tx1"/>
              </a:solidFill>
              <a:cs typeface="Arial Regular" panose="020B0604020202090204" charset="0"/>
            </a:endParaRPr>
          </a:p>
          <a:p>
            <a:pPr algn="just" hangingPunct="0"/>
            <a:endParaRPr lang="en-US" altLang="en-US" sz="1700">
              <a:solidFill>
                <a:schemeClr val="tx1"/>
              </a:solidFill>
              <a:cs typeface="Arial Regular" panose="020B0604020202090204" charset="0"/>
            </a:endParaRPr>
          </a:p>
          <a:p>
            <a:pPr algn="just" hangingPunct="0"/>
            <a:r>
              <a:rPr lang="en-US" altLang="en-US" sz="1700">
                <a:solidFill>
                  <a:schemeClr val="tx1"/>
                </a:solidFill>
                <a:cs typeface="Arial Regular" panose="020B0604020202090204" charset="0"/>
              </a:rPr>
              <a:t>Retain high value customers: Business should focus on the high value customers by offering membership to them to reward their purchases. Also high-end products recommendations can be given to these customers.</a:t>
            </a:r>
            <a:endParaRPr lang="en-US" altLang="en-US" sz="1700">
              <a:solidFill>
                <a:schemeClr val="tx1"/>
              </a:solidFill>
              <a:cs typeface="Arial Regular" panose="020B0604020202090204" charset="0"/>
            </a:endParaRPr>
          </a:p>
          <a:p>
            <a:pPr algn="just" hangingPunct="0"/>
            <a:endParaRPr lang="en-US" altLang="en-US" sz="2000">
              <a:solidFill>
                <a:schemeClr val="tx1"/>
              </a:solidFill>
              <a:cs typeface="Arial Regular" panose="020B0604020202090204" charset="0"/>
            </a:endParaRPr>
          </a:p>
          <a:p>
            <a:pPr algn="just" hangingPunct="0"/>
            <a:endParaRPr lang="en-US" altLang="en-US" sz="2000">
              <a:solidFill>
                <a:schemeClr val="tx1"/>
              </a:solidFill>
              <a:cs typeface="Arial Regular" panose="020B0604020202090204" charset="0"/>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BUSINESS INSIGHT</a:t>
            </a:r>
            <a:endParaRPr>
              <a:ea typeface="+mj-ea"/>
              <a:cs typeface="+mn-ea"/>
              <a:sym typeface="+mn-ea"/>
            </a:endParaRPr>
          </a:p>
        </p:txBody>
      </p:sp>
      <p:sp>
        <p:nvSpPr>
          <p:cNvPr id="2" name="Content Placeholder 3"/>
          <p:cNvSpPr>
            <a:spLocks noGrp="1"/>
          </p:cNvSpPr>
          <p:nvPr>
            <p:custDataLst>
              <p:tags r:id="rId3"/>
            </p:custDataLst>
          </p:nvPr>
        </p:nvSpPr>
        <p:spPr>
          <a:xfrm>
            <a:off x="608400" y="1490400"/>
            <a:ext cx="10969200" cy="475920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hangingPunct="0"/>
            <a:r>
              <a:rPr altLang="en-US" sz="1700">
                <a:solidFill>
                  <a:schemeClr val="tx1"/>
                </a:solidFill>
                <a:cs typeface="Arial Regular" panose="020B0604020202090204" charset="0"/>
                <a:sym typeface="+mn-ea"/>
              </a:rPr>
              <a:t>Use customer spend for target marketing: By analyzing the year over year change in average spend, company can target different customer segments based on the difference in average spend.</a:t>
            </a:r>
            <a:endParaRPr lang="en-US" altLang="en-US" sz="1700">
              <a:solidFill>
                <a:schemeClr val="tx1"/>
              </a:solidFill>
              <a:cs typeface="Arial Regular" panose="020B0604020202090204" charset="0"/>
            </a:endParaRPr>
          </a:p>
          <a:p>
            <a:pPr algn="just" hangingPunct="0"/>
            <a:endParaRPr lang="en-US" altLang="en-US" sz="1700">
              <a:solidFill>
                <a:schemeClr val="tx1"/>
              </a:solidFill>
              <a:cs typeface="Arial Regular" panose="020B0604020202090204" charset="0"/>
            </a:endParaRPr>
          </a:p>
          <a:p>
            <a:pPr algn="just" hangingPunct="0"/>
            <a:r>
              <a:rPr altLang="en-US" sz="1700">
                <a:solidFill>
                  <a:schemeClr val="tx1"/>
                </a:solidFill>
                <a:cs typeface="Arial Regular" panose="020B0604020202090204" charset="0"/>
                <a:sym typeface="+mn-ea"/>
              </a:rPr>
              <a:t>Monitor changes in manufacturer performance: It was identified that Samsung was top 2nd manufacturer in 2009 but in 2010 Apple took over the 2nd position indicating the customer’s preferences were changed. Business should regularly monitor the change to make strategies accordingly.</a:t>
            </a:r>
            <a:endParaRPr lang="en-US" altLang="en-US" sz="1700">
              <a:solidFill>
                <a:schemeClr val="tx1"/>
              </a:solidFill>
              <a:cs typeface="Arial Regular" panose="020B0604020202090204" charset="0"/>
            </a:endParaRPr>
          </a:p>
          <a:p>
            <a:pPr algn="just" hangingPunct="0"/>
            <a:endParaRPr lang="en-US" altLang="en-US" sz="2000">
              <a:solidFill>
                <a:schemeClr val="tx1"/>
              </a:solidFill>
              <a:cs typeface="Arial Regular" panose="020B0604020202090204" charset="0"/>
            </a:endParaRPr>
          </a:p>
          <a:p>
            <a:pPr algn="just" hangingPunct="0"/>
            <a:endParaRPr lang="en-US" altLang="en-US" sz="2000">
              <a:solidFill>
                <a:schemeClr val="tx1"/>
              </a:solidFill>
              <a:cs typeface="Arial Regular" panose="020B0604020202090204" charset="0"/>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idx="6"/>
            <p:custDataLst>
              <p:tags r:id="rId1"/>
            </p:custDataLst>
          </p:nvPr>
        </p:nvSpPr>
        <p:spPr/>
        <p:txBody>
          <a:bodyPr/>
          <a:p>
            <a:endParaRPr lang="en-US">
              <a:ea typeface="+mn-ea"/>
            </a:endParaRPr>
          </a:p>
        </p:txBody>
      </p:sp>
      <p:sp>
        <p:nvSpPr>
          <p:cNvPr id="5" name="Title 4"/>
          <p:cNvSpPr txBox="1">
            <a:spLocks noGrp="1"/>
          </p:cNvSpPr>
          <p:nvPr>
            <p:ph type="title" idx="5"/>
            <p:custDataLst>
              <p:tags r:id="rId2"/>
            </p:custDataLst>
          </p:nvPr>
        </p:nvSpPr>
        <p:spPr>
          <a:noFill/>
          <a:ln>
            <a:noFill/>
            <a:prstDash val="sysDash"/>
          </a:ln>
        </p:spPr>
        <p:txBody>
          <a:bodyPr vert="horz" wrap="square" lIns="91440" tIns="45720" rIns="91440" bIns="45720" rtlCol="0" anchor="ctr">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lgn="l"/>
            <a:r>
              <a:rPr>
                <a:ea typeface="+mj-ea"/>
                <a:cs typeface="+mn-ea"/>
                <a:sym typeface="+mn-ea"/>
              </a:rPr>
              <a:t>CONCLUSION</a:t>
            </a:r>
            <a:endParaRPr>
              <a:ea typeface="+mj-ea"/>
              <a:cs typeface="+mn-ea"/>
              <a:sym typeface="+mn-ea"/>
            </a:endParaRPr>
          </a:p>
        </p:txBody>
      </p:sp>
      <p:sp>
        <p:nvSpPr>
          <p:cNvPr id="2" name="Content Placeholder 3"/>
          <p:cNvSpPr>
            <a:spLocks noGrp="1"/>
          </p:cNvSpPr>
          <p:nvPr>
            <p:custDataLst>
              <p:tags r:id="rId3"/>
            </p:custDataLst>
          </p:nvPr>
        </p:nvSpPr>
        <p:spPr>
          <a:xfrm>
            <a:off x="608400" y="1490400"/>
            <a:ext cx="10969200" cy="4759200"/>
          </a:xfrm>
          <a:prstGeom prst="rect">
            <a:avLst/>
          </a:prstGeom>
          <a:ln>
            <a:noFill/>
            <a:prstDash val="sysDash"/>
          </a:ln>
        </p:spPr>
        <p:txBody>
          <a:bodyPr vert="horz" wrap="square"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ea typeface="+mn-ea"/>
                <a:cs typeface="Arial" panose="020B0604020202090204" pitchFamily="34" charset="0"/>
                <a:sym typeface="+mn-ea"/>
              </a:defRPr>
            </a:lvl1pPr>
            <a:lvl2pPr marL="685800" marR="0" lvl="1" indent="-228600" algn="l"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en-US" sz="1600" b="0" i="0" u="none" strike="noStrike" kern="1200" cap="none" spc="150" normalizeH="0" baseline="0">
                <a:solidFill>
                  <a:schemeClr val="tx1"/>
                </a:solidFill>
                <a:uFillTx/>
                <a:latin typeface="+mn-lt"/>
                <a:ea typeface="+mn-ea"/>
                <a:cs typeface="MiSans Normal" panose="00000500000000000000" charset="-122"/>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lt"/>
                <a:ea typeface="+mn-ea"/>
                <a:cs typeface="MiSans Normal" panose="00000500000000000000" charset="-122"/>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lt"/>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hangingPunct="0">
              <a:buNone/>
            </a:pPr>
            <a:r>
              <a:rPr lang="en-US" altLang="en-US" sz="1700">
                <a:solidFill>
                  <a:schemeClr val="tx1"/>
                </a:solidFill>
                <a:cs typeface="Arial Regular" panose="020B0604020202090204" charset="0"/>
              </a:rPr>
              <a:t>The analysis offers a comprehensive understanding of mobile sales, customer purchasing behaviour, product demand, and regional performance over time. The findings highlight variations in sales across states, manufacturers, and mobile models, as well as consistently popular products and changes in manufacturer performance over time. Customer-level analysis assisted in identifying high-value customers as well as shifts in their spending and purchasing habits. Overall, these insights can help businesses make more informed decisions about product planning, regional sales strategies, customer targeting, and marketing efforts, leading to higher sales performance and customer retention.</a:t>
            </a:r>
            <a:endParaRPr lang="en-US" altLang="en-US" sz="1700">
              <a:solidFill>
                <a:schemeClr val="tx1"/>
              </a:solidFill>
              <a:cs typeface="Arial Regular" panose="020B0604020202090204" charset="0"/>
            </a:endParaRPr>
          </a:p>
          <a:p>
            <a:pPr marL="0" indent="0" algn="ctr" hangingPunct="0">
              <a:buNone/>
            </a:pPr>
            <a:endParaRPr lang="en-US" altLang="en-US" sz="1700">
              <a:solidFill>
                <a:schemeClr val="tx1"/>
              </a:solidFill>
              <a:cs typeface="Arial Regular" panose="020B0604020202090204" charset="0"/>
            </a:endParaRPr>
          </a:p>
        </p:txBody>
      </p:sp>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6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6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6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6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7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Lst>
</file>

<file path=ppt/tags/tag74.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75.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Lst>
</file>

<file path=ppt/tags/tag76.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77.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5"/>
  <p:tag name="KSO_WM_UNIT_LAYERLEVEL" val="1"/>
  <p:tag name="KSO_WM_TAG_VERSION" val="3.0"/>
  <p:tag name="KSO_WM_BEAUTIFY_FLAG" val="#wm#"/>
  <p:tag name="KSO_WM_UNIT_TYPE" val="i"/>
  <p:tag name="KSO_WM_UNIT_INDEX" val="5"/>
</p:tagLst>
</file>

<file path=ppt/tags/tag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8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8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UNIT_TYPE" val="i"/>
  <p:tag name="KSO_WM_UNIT_INDEX" val="2"/>
  <p:tag name="KSO_WM_UNIT_CONTENT_GROUP_TYPE" val="titlestyle"/>
</p:tagLst>
</file>

<file path=ppt/tags/tag8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3"/>
  <p:tag name="KSO_WM_UNIT_LAYERLEVEL" val="1"/>
  <p:tag name="KSO_WM_TAG_VERSION" val="3.0"/>
  <p:tag name="KSO_WM_UNIT_TYPE" val="i"/>
  <p:tag name="KSO_WM_UNIT_INDEX" val="3"/>
  <p:tag name="KSO_WM_UNIT_CONTENT_GROUP_TYPE" val="titlestyle"/>
</p:tagLst>
</file>

<file path=ppt/tags/tag8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2*i*4"/>
  <p:tag name="KSO_WM_UNIT_LAYERLEVEL" val="1"/>
  <p:tag name="KSO_WM_TAG_VERSION" val="3.0"/>
  <p:tag name="KSO_WM_UNIT_CONTENT_GROUP_TYPE" val="titlestyle"/>
  <p:tag name="KSO_WM_UNIT_TYPE" val="i"/>
  <p:tag name="KSO_WM_UNIT_INDEX" val="4"/>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9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9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9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UNIT_TYPE" val="i"/>
  <p:tag name="KSO_WM_UNIT_INDEX" val="4"/>
</p:tagLst>
</file>

<file path=ppt/tags/tag9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UNIT_TYPE" val="i"/>
  <p:tag name="KSO_WM_UNIT_INDEX" val="5"/>
</p:tagLst>
</file>

<file path=ppt/tags/tag9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UNIT_TYPE" val="i"/>
  <p:tag name="KSO_WM_UNIT_INDEX" val="6"/>
</p:tagLst>
</file>

<file path=ppt/tags/tag9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UNIT_TYPE" val="i"/>
  <p:tag name="KSO_WM_UNIT_INDEX" val="7"/>
</p:tagLst>
</file>

<file path=ppt/tags/tag9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10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0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10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10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10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10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UNIT_TYPE" val="i"/>
  <p:tag name="KSO_WM_UNIT_INDEX" val="6"/>
</p:tagLst>
</file>

<file path=ppt/tags/tag1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UNIT_TYPE" val="i"/>
  <p:tag name="KSO_WM_UNIT_INDEX" val="7"/>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1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UNIT_TYPE" val="i"/>
  <p:tag name="KSO_WM_UNIT_INDEX" val="10"/>
</p:tagLst>
</file>

<file path=ppt/tags/tag114.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UNIT_TYPE" val="i"/>
  <p:tag name="KSO_WM_UNIT_INDEX" val="11"/>
</p:tagLst>
</file>

<file path=ppt/tags/tag115.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UNIT_TYPE" val="i"/>
  <p:tag name="KSO_WM_UNIT_INDEX" val="12"/>
</p:tagLst>
</file>

<file path=ppt/tags/tag116.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17.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5"/>
  <p:tag name="KSO_WM_UNIT_LAYERLEVEL" val="1"/>
  <p:tag name="KSO_WM_TAG_VERSION" val="3.0"/>
  <p:tag name="KSO_WM_BEAUTIFY_FLAG" val="#wm#"/>
  <p:tag name="KSO_WM_UNIT_TYPE" val="i"/>
  <p:tag name="KSO_WM_UNIT_INDEX" val="5"/>
</p:tagLst>
</file>

<file path=ppt/tags/tag1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12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12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12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2"/>
  <p:tag name="KSO_WM_UNIT_LAYERLEVEL" val="1"/>
  <p:tag name="KSO_WM_TAG_VERSION" val="3.0"/>
  <p:tag name="KSO_WM_UNIT_CONTENT_GROUP_TYPE" val="titlestyle"/>
  <p:tag name="KSO_WM_UNIT_TYPE" val="i"/>
  <p:tag name="KSO_WM_UNIT_INDEX" val="2"/>
</p:tagLst>
</file>

<file path=ppt/tags/tag12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3"/>
  <p:tag name="KSO_WM_UNIT_LAYERLEVEL" val="1"/>
  <p:tag name="KSO_WM_TAG_VERSION" val="3.0"/>
  <p:tag name="KSO_WM_UNIT_CONTENT_GROUP_TYPE" val="titlestyle"/>
  <p:tag name="KSO_WM_UNIT_TYPE" val="i"/>
  <p:tag name="KSO_WM_UNIT_INDEX" val="3"/>
</p:tagLst>
</file>

<file path=ppt/tags/tag12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4"/>
  <p:tag name="KSO_WM_UNIT_LAYERLEVEL" val="1"/>
  <p:tag name="KSO_WM_TAG_VERSION" val="3.0"/>
  <p:tag name="KSO_WM_UNIT_CONTENT_GROUP_TYPE" val="titlestyle"/>
  <p:tag name="KSO_WM_UNIT_TYPE" val="i"/>
  <p:tag name="KSO_WM_UNIT_INDEX" val="4"/>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3.0"/>
  <p:tag name="KSO_WM_BEAUTIFY_FLAG" val="#wm#"/>
  <p:tag name="KSO_WM_UNIT_TYPE" val="i"/>
  <p:tag name="KSO_WM_UNIT_INDEX" val="5"/>
</p:tagLst>
</file>

<file path=ppt/tags/tag1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13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1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136.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137.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13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CONTENT_GROUP_TYPE" val="titlestyle"/>
  <p:tag name="KSO_WM_UNIT_TYPE" val="i"/>
  <p:tag name="KSO_WM_UNIT_INDEX" val="1"/>
</p:tagLst>
</file>

<file path=ppt/tags/tag13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14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3"/>
  <p:tag name="KSO_WM_UNIT_LAYERLEVEL" val="1"/>
  <p:tag name="KSO_WM_TAG_VERSION" val="3.0"/>
  <p:tag name="KSO_WM_UNIT_CONTENT_GROUP_TYPE" val="titlestyle"/>
  <p:tag name="KSO_WM_UNIT_TYPE" val="i"/>
  <p:tag name="KSO_WM_UNIT_INDEX" val="3"/>
</p:tagLst>
</file>

<file path=ppt/tags/tag14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4"/>
  <p:tag name="KSO_WM_UNIT_LAYERLEVEL" val="1"/>
  <p:tag name="KSO_WM_TAG_VERSION" val="3.0"/>
  <p:tag name="KSO_WM_UNIT_CONTENT_GROUP_TYPE" val="titlestyle"/>
  <p:tag name="KSO_WM_UNIT_TYPE" val="i"/>
  <p:tag name="KSO_WM_UNIT_INDEX" val="4"/>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5"/>
  <p:tag name="KSO_WM_UNIT_LAYERLEVEL" val="1"/>
  <p:tag name="KSO_WM_TAG_VERSION" val="3.0"/>
  <p:tag name="KSO_WM_BEAUTIFY_FLAG" val="#wm#"/>
  <p:tag name="KSO_WM_UNIT_TYPE" val="i"/>
  <p:tag name="KSO_WM_UNIT_INDEX" val="5"/>
</p:tagLst>
</file>

<file path=ppt/tags/tag14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14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14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UNIT_CONTENT_GROUP_TYPE" val="titlestyle"/>
  <p:tag name="KSO_WM_UNIT_TYPE" val="i"/>
  <p:tag name="KSO_WM_UNIT_INDEX" val="2"/>
</p:tagLst>
</file>

<file path=ppt/tags/tag14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3"/>
  <p:tag name="KSO_WM_UNIT_LAYERLEVEL" val="1"/>
  <p:tag name="KSO_WM_TAG_VERSION" val="3.0"/>
  <p:tag name="KSO_WM_UNIT_CONTENT_GROUP_TYPE" val="titlestyle"/>
  <p:tag name="KSO_WM_UNIT_TYPE" val="i"/>
  <p:tag name="KSO_WM_UNIT_INDEX" val="3"/>
</p:tagLst>
</file>

<file path=ppt/tags/tag15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4"/>
  <p:tag name="KSO_WM_UNIT_LAYERLEVEL" val="1"/>
  <p:tag name="KSO_WM_TAG_VERSION" val="3.0"/>
  <p:tag name="KSO_WM_UNIT_CONTENT_GROUP_TYPE" val="titlestyle"/>
  <p:tag name="KSO_WM_UNIT_TYPE" val="i"/>
  <p:tag name="KSO_WM_UNIT_INDEX" val="4"/>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BEAUTIFY_FLAG" val="#wm#"/>
  <p:tag name="KSO_WM_UNIT_TYPE" val="i"/>
  <p:tag name="KSO_WM_UNIT_INDEX"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Lst>
</file>

<file path=ppt/tags/tag1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5"/>
  <p:tag name="KSO_WM_UNIT_LAYERLEVEL" val="1"/>
  <p:tag name="KSO_WM_TAG_VERSION" val="3.0"/>
  <p:tag name="KSO_WM_BEAUTIFY_FLAG" val="#wm#"/>
  <p:tag name="KSO_WM_UNIT_TYPE" val="i"/>
  <p:tag name="KSO_WM_UNIT_INDEX" val="5"/>
</p:tagLst>
</file>

<file path=ppt/tags/tag16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6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16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2"/>
  <p:tag name="KSO_WM_UNIT_LAYERLEVEL" val="1"/>
  <p:tag name="KSO_WM_TAG_VERSION" val="3.0"/>
  <p:tag name="KSO_WM_UNIT_CONTENT_GROUP_TYPE" val="titlestyle"/>
  <p:tag name="KSO_WM_UNIT_TYPE" val="i"/>
  <p:tag name="KSO_WM_UNIT_INDEX" val="2"/>
</p:tagLst>
</file>

<file path=ppt/tags/tag16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3"/>
  <p:tag name="KSO_WM_UNIT_LAYERLEVEL" val="1"/>
  <p:tag name="KSO_WM_TAG_VERSION" val="3.0"/>
  <p:tag name="KSO_WM_UNIT_CONTENT_GROUP_TYPE" val="titlestyle"/>
  <p:tag name="KSO_WM_UNIT_TYPE" val="i"/>
  <p:tag name="KSO_WM_UNIT_INDEX" val="3"/>
</p:tagLst>
</file>

<file path=ppt/tags/tag16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4"/>
  <p:tag name="KSO_WM_UNIT_LAYERLEVEL" val="1"/>
  <p:tag name="KSO_WM_TAG_VERSION" val="3.0"/>
  <p:tag name="KSO_WM_UNIT_CONTENT_GROUP_TYPE" val="titlestyle"/>
  <p:tag name="KSO_WM_UNIT_TYPE" val="i"/>
  <p:tag name="KSO_WM_UNIT_INDEX" val="4"/>
</p:tagLst>
</file>

<file path=ppt/tags/tag169.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17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7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7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17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1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179.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180.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18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TYPE" val="i"/>
  <p:tag name="KSO_WM_UNIT_INDEX" val="8"/>
</p:tagLst>
</file>

<file path=ppt/tags/tag18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TYPE" val="i"/>
  <p:tag name="KSO_WM_UNIT_INDEX" val="9"/>
</p:tagLst>
</file>

<file path=ppt/tags/tag183.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8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CONTENT_GROUP_TYPE" val="titlestyle"/>
  <p:tag name="KSO_WM_UNIT_TYPE" val="i"/>
  <p:tag name="KSO_WM_UNIT_INDEX" val="2"/>
</p:tagLst>
</file>

<file path=ppt/tags/tag19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19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UNIT_CONTENT_GROUP_TYPE" val="titlestyle"/>
  <p:tag name="KSO_WM_UNIT_TYPE" val="i"/>
  <p:tag name="KSO_WM_UNIT_INDEX" val="4"/>
</p:tagLst>
</file>

<file path=ppt/tags/tag19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UNIT_CONTENT_GROUP_TYPE" val="titlestyle"/>
  <p:tag name="KSO_WM_UNIT_TYPE" val="i"/>
  <p:tag name="KSO_WM_UNIT_INDEX" val="5"/>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37"/>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37"/>
</p:tagLst>
</file>

<file path=ppt/tags/tag198.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37"/>
  <p:tag name="KSO_WM_TEMPLATE_THUMBS_INDEX" val="1、9"/>
  <p:tag name="KSO_WM_SPECIAL_SOURCE" val="bdnull"/>
</p:tagLst>
</file>

<file path=ppt/tags/tag199.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3437_1*b*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Click to add subtitle"/>
</p:tagLst>
</file>

<file path=ppt/tags/tag20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1*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201.xml><?xml version="1.0" encoding="utf-8"?>
<p:tagLst xmlns:p="http://schemas.openxmlformats.org/presentationml/2006/main">
  <p:tag name="KSO_WM_SLIDE_ID" val="custom2023343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37"/>
  <p:tag name="KSO_WM_SLIDE_LAYOUT" val="a_b_f"/>
  <p:tag name="KSO_WM_SLIDE_LAYOUT_CNT" val="1_1_1"/>
  <p:tag name="KSO_WM_TEMPLATE_THUMBS_INDEX" val="1、9"/>
  <p:tag name="KSO_WM_SLIDE_CONTENT_AREA" val="{&quot;left&quot;:&quot;312.85&quot;,&quot;top&quot;:&quot;117.3&quot;,&quot;width&quot;:&quot;619.95&quot;,&quot;height&quot;:&quot;244.5&quot;}"/>
  <p:tag name="KSO_WM_SPECIAL_SOURCE" val="bdnull"/>
  <p:tag name="KSO_WM_SLIDE_THEME_ID" val="3303377"/>
  <p:tag name="KSO_WM_SLIDE_THEME_NAME" val="Purple Business"/>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04.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LAYERLEVEL" val="1"/>
  <p:tag name="KSO_WM_TAG_VERSION" val="3.0"/>
  <p:tag name="KSO_WM_BEAUTIFY_FLAG" val="#wm#"/>
  <p:tag name="KSO_WM_UNIT_PRESET_TEXT" val="单击此处编辑母版文本样式&#10;第二级&#10;第三级&#10;第四级&#10;第五级"/>
</p:tagLst>
</file>

<file path=ppt/tags/tag2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08.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1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7"/>
  <p:tag name="KSO_WM_UNIT_LAYERLEVEL" val="1"/>
  <p:tag name="KSO_WM_TAG_VERSION" val="3.0"/>
  <p:tag name="KSO_WM_BEAUTIFY_FLAG" val="#wm#"/>
  <p:tag name="KSO_WM_UNIT_PRESET_TEXT" val="单击此处编辑母版文本样式&#10;第二级&#10;第三级&#10;第四级&#10;第五级"/>
</p:tagLst>
</file>

<file path=ppt/tags/tag212.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1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1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7"/>
  <p:tag name="KSO_WM_UNIT_LAYERLEVEL" val="1"/>
  <p:tag name="KSO_WM_TAG_VERSION" val="3.0"/>
  <p:tag name="KSO_WM_BEAUTIFY_FLAG" val="#wm#"/>
  <p:tag name="KSO_WM_UNIT_PRESET_TEXT" val="单击此处编辑母版文本样式&#10;第二级&#10;第三级&#10;第四级&#10;第五级"/>
</p:tagLst>
</file>

<file path=ppt/tags/tag216.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1"/>
  <p:tag name="KSO_WM_UNIT_LAYERLEVEL" val="1"/>
  <p:tag name="KSO_WM_TAG_VERSION" val="3.0"/>
  <p:tag name="KSO_WM_BEAUTIFY_FLAG" val="#wm#"/>
  <p:tag name="KSO_WM_UNIT_PRESET_TEXT" val="单击此处编辑母版文本样式&#10;第二级&#10;第三级&#10;第四级&#10;第五级"/>
</p:tagLst>
</file>

<file path=ppt/tags/tag220.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1"/>
  <p:tag name="KSO_WM_UNIT_LAYERLEVEL" val="1"/>
  <p:tag name="KSO_WM_TAG_VERSION" val="3.0"/>
  <p:tag name="KSO_WM_BEAUTIFY_FLAG" val="#wm#"/>
  <p:tag name="KSO_WM_UNIT_PRESET_TEXT" val="单击此处编辑母版文本样式&#10;第二级&#10;第三级&#10;第四级&#10;第五级"/>
</p:tagLst>
</file>

<file path=ppt/tags/tag2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24.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8"/>
  <p:tag name="KSO_WM_UNIT_LAYERLEVEL" val="1"/>
  <p:tag name="KSO_WM_TAG_VERSION" val="3.0"/>
  <p:tag name="KSO_WM_BEAUTIFY_FLAG" val="#wm#"/>
  <p:tag name="KSO_WM_UNIT_PRESET_TEXT" val="单击此处编辑母版文本样式&#10;第二级&#10;第三级&#10;第四级&#10;第五级"/>
</p:tagLst>
</file>

<file path=ppt/tags/tag228.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4"/>
  <p:tag name="KSO_WM_UNIT_LAYERLEVEL" val="1"/>
  <p:tag name="KSO_WM_TAG_VERSION" val="3.0"/>
  <p:tag name="KSO_WM_BEAUTIFY_FLAG" val="#wm#"/>
  <p:tag name="KSO_WM_UNIT_PRESET_TEXT" val="单击此处编辑母版文本样式&#10;第二级&#10;第三级&#10;第四级&#10;第五级"/>
</p:tagLst>
</file>

<file path=ppt/tags/tag232.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235.xml><?xml version="1.0" encoding="utf-8"?>
<p:tagLst xmlns:p="http://schemas.openxmlformats.org/presentationml/2006/main">
  <p:tag name="KSO_WM_BEAUTIFY_FLAG" val="#wm#"/>
  <p:tag name="KSO_WM_TEMPLATE_CATEGORY" val="custom"/>
  <p:tag name="KSO_WM_TEMPLATE_INDEX" val="20205081"/>
</p:tagLst>
</file>

<file path=ppt/tags/tag2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4"/>
  <p:tag name="KSO_WM_UNIT_LAYERLEVEL" val="1"/>
  <p:tag name="KSO_WM_TAG_VERSION" val="3.0"/>
  <p:tag name="KSO_WM_BEAUTIFY_FLAG" val="#wm#"/>
  <p:tag name="KSO_WM_UNIT_PRESET_TEXT" val="单击此处编辑母版文本样式&#10;第二级&#10;第三级&#10;第四级&#10;第五级"/>
</p:tagLst>
</file>

<file path=ppt/tags/tag239.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4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3"/>
  <p:tag name="KSO_WM_UNIT_LAYERLEVEL" val="1"/>
  <p:tag name="KSO_WM_TAG_VERSION" val="3.0"/>
  <p:tag name="KSO_WM_BEAUTIFY_FLAG" val="#wm#"/>
  <p:tag name="KSO_WM_UNIT_PRESET_TEXT" val="单击此处编辑母版文本样式&#10;第二级&#10;第三级&#10;第四级&#10;第五级"/>
</p:tagLst>
</file>

<file path=ppt/tags/tag243.xml><?xml version="1.0" encoding="utf-8"?>
<p:tagLst xmlns:p="http://schemas.openxmlformats.org/presentationml/2006/main">
  <p:tag name="KSO_WM_BEAUTIFY_FLAG" val="#wm#"/>
  <p:tag name="KSO_WM_TEMPLATE_CATEGORY" val="custom"/>
  <p:tag name="KSO_WM_TEMPLATE_INDEX" val="20205081"/>
  <p:tag name="KSO_WM_SLIDE_TYPE" val="text"/>
</p:tagLst>
</file>

<file path=ppt/tags/tag24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3.0"/>
  <p:tag name="KSO_WM_BEAUTIFY_FLAG" val="#wm#"/>
  <p:tag name="KSO_WM_UNIT_CONTENT_GROUP_TYPE" val="titlestyle"/>
  <p:tag name="KSO_WM_UNIT_PRESET_TEXT" val="单击此处添加标题"/>
  <p:tag name="KSO_WM_UNIT_ID" val="_2*a*1"/>
</p:tagLst>
</file>

<file path=ppt/tags/tag2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LAYERLEVEL" val="1"/>
  <p:tag name="KSO_WM_TAG_VERSION" val="3.0"/>
  <p:tag name="KSO_WM_BEAUTIFY_FLAG" val="#wm#"/>
  <p:tag name="KSO_WM_UNIT_PRESET_TEXT" val="单击此处编辑母版文本样式&#10;第二级&#10;第三级&#10;第四级&#10;第五级"/>
</p:tagLst>
</file>

<file path=ppt/tags/tag247.xml><?xml version="1.0" encoding="utf-8"?>
<p:tagLst xmlns:p="http://schemas.openxmlformats.org/presentationml/2006/main">
  <p:tag name="KSO_WM_BEAUTIFY_FLAG" val="#wm#"/>
  <p:tag name="KSO_WM_TEMPLATE_CATEGORY" val="custom"/>
  <p:tag name="KSO_WM_TEMPLATE_INDEX" val="20205081"/>
  <p:tag name="KSO_WM_SLIDE_TYPE" val="tex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Helvetica Neue"/>
        <a:ea typeface=""/>
        <a:cs typeface=""/>
        <a:font script="Jpan" typeface="BIZ UDMincho"/>
        <a:font script="Hang" typeface="맑은 고딕"/>
        <a:font script="Hans" typeface="等线 Light"/>
        <a:font script="Hant" typeface="微軟正黑體"/>
        <a:font script="Arab" typeface="Geeza Pro"/>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elvetica Neue"/>
        <a:ea typeface=""/>
        <a:cs typeface=""/>
        <a:font script="Jpan" typeface="BIZ UDMincho"/>
        <a:font script="Hang" typeface="맑은 고딕"/>
        <a:font script="Hans" typeface="等线"/>
        <a:font script="Hant" typeface="微軟正黑體"/>
        <a:font script="Arab" typeface="Geeza Pro"/>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01">
      <a:dk1>
        <a:srgbClr val="000000"/>
      </a:dk1>
      <a:lt1>
        <a:srgbClr val="FFFFFF"/>
      </a:lt1>
      <a:dk2>
        <a:srgbClr val="260C60"/>
      </a:dk2>
      <a:lt2>
        <a:srgbClr val="D7E3FA"/>
      </a:lt2>
      <a:accent1>
        <a:srgbClr val="6124E5"/>
      </a:accent1>
      <a:accent2>
        <a:srgbClr val="4E4DE7"/>
      </a:accent2>
      <a:accent3>
        <a:srgbClr val="3A76E9"/>
      </a:accent3>
      <a:accent4>
        <a:srgbClr val="279EEA"/>
      </a:accent4>
      <a:accent5>
        <a:srgbClr val="13C7EC"/>
      </a:accent5>
      <a:accent6>
        <a:srgbClr val="36D8D4"/>
      </a:accent6>
      <a:hlink>
        <a:srgbClr val="0563C1"/>
      </a:hlink>
      <a:folHlink>
        <a:srgbClr val="954F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6793</Words>
  <Application>WPS Sheets</Application>
  <PresentationFormat>Widescreen</PresentationFormat>
  <Paragraphs>103</Paragraphs>
  <Slides>13</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13</vt:i4>
      </vt:variant>
    </vt:vector>
  </HeadingPairs>
  <TitlesOfParts>
    <vt:vector size="34" baseType="lpstr">
      <vt:lpstr>Arial</vt:lpstr>
      <vt:lpstr>SimSun</vt:lpstr>
      <vt:lpstr>Wingdings</vt:lpstr>
      <vt:lpstr>Wingdings</vt:lpstr>
      <vt:lpstr>MiSans Normal</vt:lpstr>
      <vt:lpstr>宋体-简</vt:lpstr>
      <vt:lpstr>Arial Regular</vt:lpstr>
      <vt:lpstr>Arial Bold</vt:lpstr>
      <vt:lpstr>Inter</vt:lpstr>
      <vt:lpstr>Microsoft YaHei</vt:lpstr>
      <vt:lpstr>汉仪旗黑</vt:lpstr>
      <vt:lpstr>Arial Unicode MS</vt:lpstr>
      <vt:lpstr>Inter Bold</vt:lpstr>
      <vt:lpstr>Calibri</vt:lpstr>
      <vt:lpstr>Helvetica Neue</vt:lpstr>
      <vt:lpstr>Crimson Text SemiBold</vt:lpstr>
      <vt:lpstr>苹方-简</vt:lpstr>
      <vt:lpstr>Charis SIL</vt:lpstr>
      <vt:lpstr>SimSun</vt:lpstr>
      <vt:lpstr>WPS</vt:lpstr>
      <vt:lpstr>Office Theme</vt:lpstr>
      <vt:lpstr>MOBILE MANUFACTURER DATA ANALYSIS</vt:lpstr>
      <vt:lpstr>Project Overview</vt:lpstr>
      <vt:lpstr>Business Problem</vt:lpstr>
      <vt:lpstr>OBJECTIVE</vt:lpstr>
      <vt:lpstr>DATASET DESCRIPTION</vt:lpstr>
      <vt:lpstr>BUSINESS QUESTIONS</vt:lpstr>
      <vt:lpstr>PROJECT APPROACH</vt:lpstr>
      <vt:lpstr>KEY FINDINGS</vt:lpstr>
      <vt:lpstr>KEY FINDINGS</vt:lpstr>
      <vt:lpstr>PowerPoint 演示文稿</vt:lpstr>
      <vt:lpstr>BUSINESS INSIGHT</vt:lpstr>
      <vt:lpstr>BUSINESS INSIGHT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MANUFACTURER DATA ANALYSIS</dc:title>
  <dc:creator>nehagupta</dc:creator>
  <cp:lastModifiedBy>Neha Gupta</cp:lastModifiedBy>
  <cp:revision>4</cp:revision>
  <dcterms:created xsi:type="dcterms:W3CDTF">2026-09-12T20:08:18Z</dcterms:created>
  <dcterms:modified xsi:type="dcterms:W3CDTF">2026-09-12T20:08:18Z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6F0F63F120EAFA7832B1A56A298FBBC7_43</vt:lpwstr>
  </property>
</Properties>
</file>